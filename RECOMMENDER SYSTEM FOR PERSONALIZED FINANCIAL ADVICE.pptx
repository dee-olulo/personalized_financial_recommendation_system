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omments/comment1.xml" ContentType="application/vnd.openxmlformats-officedocument.presentationml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ollins Oyaro" initials="CO" lastIdx="1" clrIdx="0">
    <p:extLst>
      <p:ext uri="{19B8F6BF-5375-455C-9EA6-DF929625EA0E}">
        <p15:presenceInfo xmlns:p15="http://schemas.microsoft.com/office/powerpoint/2012/main" userId="18f008b4eaaa4fc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39" d="100"/>
          <a:sy n="39" d="100"/>
        </p:scale>
        <p:origin x="52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3-25T01:11:29.186" idx="1">
    <p:pos x="10" y="10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76DA03-69F2-4C82-9358-B2DA04C4875F}" type="doc">
      <dgm:prSet loTypeId="urn:microsoft.com/office/officeart/2005/8/layout/process5" loCatId="process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KE"/>
        </a:p>
      </dgm:t>
    </dgm:pt>
    <dgm:pt modelId="{8166F554-DF07-47D6-A41C-A6207D9FFB4D}">
      <dgm:prSet phldrT="[Text]"/>
      <dgm:spPr/>
      <dgm:t>
        <a:bodyPr/>
        <a:lstStyle/>
        <a:p>
          <a:r>
            <a:rPr lang="en-US" dirty="0"/>
            <a:t>DATA SOURCE</a:t>
          </a:r>
        </a:p>
        <a:p>
          <a:r>
            <a:rPr lang="en-US" dirty="0"/>
            <a:t>SANTANDER</a:t>
          </a:r>
        </a:p>
        <a:p>
          <a:r>
            <a:rPr lang="en-US" dirty="0"/>
            <a:t>50,000 rows</a:t>
          </a:r>
          <a:endParaRPr lang="en-KE" dirty="0"/>
        </a:p>
      </dgm:t>
    </dgm:pt>
    <dgm:pt modelId="{A229ABC6-BF59-482C-BF2B-431AC8CD8BAE}" type="parTrans" cxnId="{BB43CA77-A4BE-44EA-81DF-939713B3C5D0}">
      <dgm:prSet/>
      <dgm:spPr/>
      <dgm:t>
        <a:bodyPr/>
        <a:lstStyle/>
        <a:p>
          <a:endParaRPr lang="en-KE"/>
        </a:p>
      </dgm:t>
    </dgm:pt>
    <dgm:pt modelId="{1111DFCE-9CFF-42F4-AABB-38614523B8D2}" type="sibTrans" cxnId="{BB43CA77-A4BE-44EA-81DF-939713B3C5D0}">
      <dgm:prSet/>
      <dgm:spPr/>
      <dgm:t>
        <a:bodyPr/>
        <a:lstStyle/>
        <a:p>
          <a:endParaRPr lang="en-KE"/>
        </a:p>
      </dgm:t>
    </dgm:pt>
    <dgm:pt modelId="{D2DC20DB-2266-44A3-89B7-1DD51323EB2A}">
      <dgm:prSet phldrT="[Text]"/>
      <dgm:spPr/>
      <dgm:t>
        <a:bodyPr/>
        <a:lstStyle/>
        <a:p>
          <a:r>
            <a:rPr lang="en-US" dirty="0"/>
            <a:t>PREPROCESSING</a:t>
          </a:r>
        </a:p>
        <a:p>
          <a:r>
            <a:rPr lang="en-US" dirty="0" err="1"/>
            <a:t>Pyspark</a:t>
          </a:r>
          <a:endParaRPr lang="en-US" dirty="0"/>
        </a:p>
        <a:p>
          <a:r>
            <a:rPr lang="en-US" dirty="0"/>
            <a:t>Clean, rename</a:t>
          </a:r>
          <a:endParaRPr lang="en-KE" dirty="0"/>
        </a:p>
      </dgm:t>
    </dgm:pt>
    <dgm:pt modelId="{27874DBC-5A69-47E2-A6FA-9289DEF11B67}" type="parTrans" cxnId="{251DBCAA-BE9E-4BE6-A004-3278C5D76C30}">
      <dgm:prSet/>
      <dgm:spPr/>
      <dgm:t>
        <a:bodyPr/>
        <a:lstStyle/>
        <a:p>
          <a:endParaRPr lang="en-KE"/>
        </a:p>
      </dgm:t>
    </dgm:pt>
    <dgm:pt modelId="{A71A8B35-B8DE-4232-805F-BD05DB08887D}" type="sibTrans" cxnId="{251DBCAA-BE9E-4BE6-A004-3278C5D76C30}">
      <dgm:prSet/>
      <dgm:spPr/>
      <dgm:t>
        <a:bodyPr/>
        <a:lstStyle/>
        <a:p>
          <a:endParaRPr lang="en-KE"/>
        </a:p>
      </dgm:t>
    </dgm:pt>
    <dgm:pt modelId="{B3983A5D-9476-4470-8D74-6DD452BB429C}">
      <dgm:prSet phldrT="[Text]"/>
      <dgm:spPr/>
      <dgm:t>
        <a:bodyPr/>
        <a:lstStyle/>
        <a:p>
          <a:r>
            <a:rPr lang="en-US" dirty="0"/>
            <a:t>FEDERATED SPLIT</a:t>
          </a:r>
        </a:p>
        <a:p>
          <a:r>
            <a:rPr lang="en-US" dirty="0"/>
            <a:t>3 AGE GROUPS</a:t>
          </a:r>
          <a:endParaRPr lang="en-KE" dirty="0"/>
        </a:p>
      </dgm:t>
    </dgm:pt>
    <dgm:pt modelId="{9777A8E0-D82F-4304-ADE4-7B917AEC5000}" type="parTrans" cxnId="{D0C89FBB-FBB6-4F7B-927C-F0C115D1E283}">
      <dgm:prSet/>
      <dgm:spPr/>
      <dgm:t>
        <a:bodyPr/>
        <a:lstStyle/>
        <a:p>
          <a:endParaRPr lang="en-KE"/>
        </a:p>
      </dgm:t>
    </dgm:pt>
    <dgm:pt modelId="{92036D64-0851-4A8C-ADC3-76B2E8649274}" type="sibTrans" cxnId="{D0C89FBB-FBB6-4F7B-927C-F0C115D1E283}">
      <dgm:prSet/>
      <dgm:spPr/>
      <dgm:t>
        <a:bodyPr/>
        <a:lstStyle/>
        <a:p>
          <a:endParaRPr lang="en-KE"/>
        </a:p>
      </dgm:t>
    </dgm:pt>
    <dgm:pt modelId="{47041703-C076-464C-8CEC-8FE28A219450}">
      <dgm:prSet/>
      <dgm:spPr/>
      <dgm:t>
        <a:bodyPr/>
        <a:lstStyle/>
        <a:p>
          <a:r>
            <a:rPr lang="en-US" dirty="0"/>
            <a:t>Federated learning</a:t>
          </a:r>
        </a:p>
        <a:p>
          <a:r>
            <a:rPr lang="en-US" dirty="0"/>
            <a:t>Flower + </a:t>
          </a:r>
          <a:r>
            <a:rPr lang="en-US" dirty="0" err="1"/>
            <a:t>FedAvg</a:t>
          </a:r>
          <a:endParaRPr lang="en-KE" dirty="0"/>
        </a:p>
      </dgm:t>
    </dgm:pt>
    <dgm:pt modelId="{77975CEA-122B-49E5-B8D9-52FA6E4D2D7F}" type="parTrans" cxnId="{ED61A0AD-3AF3-4B30-B07E-49C4ADA82B1A}">
      <dgm:prSet/>
      <dgm:spPr/>
      <dgm:t>
        <a:bodyPr/>
        <a:lstStyle/>
        <a:p>
          <a:endParaRPr lang="en-KE"/>
        </a:p>
      </dgm:t>
    </dgm:pt>
    <dgm:pt modelId="{E34CE4C9-D5BC-4015-9A10-1CF712176AAF}" type="sibTrans" cxnId="{ED61A0AD-3AF3-4B30-B07E-49C4ADA82B1A}">
      <dgm:prSet/>
      <dgm:spPr/>
      <dgm:t>
        <a:bodyPr/>
        <a:lstStyle/>
        <a:p>
          <a:endParaRPr lang="en-KE"/>
        </a:p>
      </dgm:t>
    </dgm:pt>
    <dgm:pt modelId="{ACA10714-9810-41B4-B21D-E8668E41D818}">
      <dgm:prSet/>
      <dgm:spPr/>
      <dgm:t>
        <a:bodyPr/>
        <a:lstStyle/>
        <a:p>
          <a:r>
            <a:rPr lang="en-US" dirty="0"/>
            <a:t>MODEL</a:t>
          </a:r>
        </a:p>
        <a:p>
          <a:r>
            <a:rPr lang="en-US" dirty="0" err="1"/>
            <a:t>OneVsRest</a:t>
          </a:r>
          <a:r>
            <a:rPr lang="en-US" dirty="0"/>
            <a:t> LR</a:t>
          </a:r>
        </a:p>
        <a:p>
          <a:r>
            <a:rPr lang="en-US" dirty="0"/>
            <a:t>F!: 0.9489</a:t>
          </a:r>
          <a:endParaRPr lang="en-KE" dirty="0"/>
        </a:p>
      </dgm:t>
    </dgm:pt>
    <dgm:pt modelId="{BDFA371A-DC02-49D4-82DA-8827D9DF0571}" type="parTrans" cxnId="{380DE00C-60DC-4F14-A5E1-09C62EC78338}">
      <dgm:prSet/>
      <dgm:spPr/>
      <dgm:t>
        <a:bodyPr/>
        <a:lstStyle/>
        <a:p>
          <a:endParaRPr lang="en-KE"/>
        </a:p>
      </dgm:t>
    </dgm:pt>
    <dgm:pt modelId="{D5B6D4C8-5007-46B9-9370-9B0CC6B14557}" type="sibTrans" cxnId="{380DE00C-60DC-4F14-A5E1-09C62EC78338}">
      <dgm:prSet/>
      <dgm:spPr/>
      <dgm:t>
        <a:bodyPr/>
        <a:lstStyle/>
        <a:p>
          <a:endParaRPr lang="en-KE"/>
        </a:p>
      </dgm:t>
    </dgm:pt>
    <dgm:pt modelId="{ECF4B298-5B58-4BC6-86BB-058A9A024D8E}">
      <dgm:prSet/>
      <dgm:spPr/>
      <dgm:t>
        <a:bodyPr/>
        <a:lstStyle/>
        <a:p>
          <a:r>
            <a:rPr lang="en-US" dirty="0"/>
            <a:t>Deployment</a:t>
          </a:r>
        </a:p>
        <a:p>
          <a:r>
            <a:rPr lang="en-US" dirty="0" err="1"/>
            <a:t>Gradio</a:t>
          </a:r>
          <a:r>
            <a:rPr lang="en-US" dirty="0"/>
            <a:t> UI</a:t>
          </a:r>
        </a:p>
        <a:p>
          <a:r>
            <a:rPr lang="en-US" dirty="0"/>
            <a:t>Live demo</a:t>
          </a:r>
          <a:endParaRPr lang="en-KE" dirty="0"/>
        </a:p>
      </dgm:t>
    </dgm:pt>
    <dgm:pt modelId="{B0F9D5C9-5D7C-4EE1-81D4-456A35003E00}" type="parTrans" cxnId="{66E5D9AC-A5F7-4943-86B4-E646BB6AD006}">
      <dgm:prSet/>
      <dgm:spPr/>
      <dgm:t>
        <a:bodyPr/>
        <a:lstStyle/>
        <a:p>
          <a:endParaRPr lang="en-KE"/>
        </a:p>
      </dgm:t>
    </dgm:pt>
    <dgm:pt modelId="{E7F75461-848E-4E2E-AF26-F2F731784ECA}" type="sibTrans" cxnId="{66E5D9AC-A5F7-4943-86B4-E646BB6AD006}">
      <dgm:prSet/>
      <dgm:spPr/>
      <dgm:t>
        <a:bodyPr/>
        <a:lstStyle/>
        <a:p>
          <a:endParaRPr lang="en-KE"/>
        </a:p>
      </dgm:t>
    </dgm:pt>
    <dgm:pt modelId="{A0B09A55-A365-4622-B393-0D8576182EE4}" type="pres">
      <dgm:prSet presAssocID="{0B76DA03-69F2-4C82-9358-B2DA04C4875F}" presName="diagram" presStyleCnt="0">
        <dgm:presLayoutVars>
          <dgm:dir/>
          <dgm:resizeHandles val="exact"/>
        </dgm:presLayoutVars>
      </dgm:prSet>
      <dgm:spPr/>
    </dgm:pt>
    <dgm:pt modelId="{83EFB5B2-6041-4C59-A08A-A8672D8BB350}" type="pres">
      <dgm:prSet presAssocID="{8166F554-DF07-47D6-A41C-A6207D9FFB4D}" presName="node" presStyleLbl="node1" presStyleIdx="0" presStyleCnt="6">
        <dgm:presLayoutVars>
          <dgm:bulletEnabled val="1"/>
        </dgm:presLayoutVars>
      </dgm:prSet>
      <dgm:spPr/>
    </dgm:pt>
    <dgm:pt modelId="{E31B3AF5-64B5-4F90-BB8F-F45638C8B2C1}" type="pres">
      <dgm:prSet presAssocID="{1111DFCE-9CFF-42F4-AABB-38614523B8D2}" presName="sibTrans" presStyleLbl="sibTrans2D1" presStyleIdx="0" presStyleCnt="5"/>
      <dgm:spPr/>
    </dgm:pt>
    <dgm:pt modelId="{0BE98924-7A8E-4A41-AC37-3EE69BC72341}" type="pres">
      <dgm:prSet presAssocID="{1111DFCE-9CFF-42F4-AABB-38614523B8D2}" presName="connectorText" presStyleLbl="sibTrans2D1" presStyleIdx="0" presStyleCnt="5"/>
      <dgm:spPr/>
    </dgm:pt>
    <dgm:pt modelId="{A75520E9-6B62-4ED9-9894-74931403659E}" type="pres">
      <dgm:prSet presAssocID="{D2DC20DB-2266-44A3-89B7-1DD51323EB2A}" presName="node" presStyleLbl="node1" presStyleIdx="1" presStyleCnt="6">
        <dgm:presLayoutVars>
          <dgm:bulletEnabled val="1"/>
        </dgm:presLayoutVars>
      </dgm:prSet>
      <dgm:spPr/>
    </dgm:pt>
    <dgm:pt modelId="{21B9A2A7-089F-4818-A814-5ACA1DAB3617}" type="pres">
      <dgm:prSet presAssocID="{A71A8B35-B8DE-4232-805F-BD05DB08887D}" presName="sibTrans" presStyleLbl="sibTrans2D1" presStyleIdx="1" presStyleCnt="5"/>
      <dgm:spPr/>
    </dgm:pt>
    <dgm:pt modelId="{F18D9228-646D-4013-8E0C-8B73A9E7D480}" type="pres">
      <dgm:prSet presAssocID="{A71A8B35-B8DE-4232-805F-BD05DB08887D}" presName="connectorText" presStyleLbl="sibTrans2D1" presStyleIdx="1" presStyleCnt="5"/>
      <dgm:spPr/>
    </dgm:pt>
    <dgm:pt modelId="{11453D57-14CB-4959-90FD-8C99B42D4153}" type="pres">
      <dgm:prSet presAssocID="{B3983A5D-9476-4470-8D74-6DD452BB429C}" presName="node" presStyleLbl="node1" presStyleIdx="2" presStyleCnt="6">
        <dgm:presLayoutVars>
          <dgm:bulletEnabled val="1"/>
        </dgm:presLayoutVars>
      </dgm:prSet>
      <dgm:spPr/>
    </dgm:pt>
    <dgm:pt modelId="{62508D21-306F-4E7B-ABAB-895D963B8751}" type="pres">
      <dgm:prSet presAssocID="{92036D64-0851-4A8C-ADC3-76B2E8649274}" presName="sibTrans" presStyleLbl="sibTrans2D1" presStyleIdx="2" presStyleCnt="5"/>
      <dgm:spPr/>
    </dgm:pt>
    <dgm:pt modelId="{16920E18-918F-405B-BD2A-F72FE94875FD}" type="pres">
      <dgm:prSet presAssocID="{92036D64-0851-4A8C-ADC3-76B2E8649274}" presName="connectorText" presStyleLbl="sibTrans2D1" presStyleIdx="2" presStyleCnt="5"/>
      <dgm:spPr/>
    </dgm:pt>
    <dgm:pt modelId="{EE5BCAB9-06BE-486F-8219-3CBCB5A13E1F}" type="pres">
      <dgm:prSet presAssocID="{47041703-C076-464C-8CEC-8FE28A219450}" presName="node" presStyleLbl="node1" presStyleIdx="3" presStyleCnt="6">
        <dgm:presLayoutVars>
          <dgm:bulletEnabled val="1"/>
        </dgm:presLayoutVars>
      </dgm:prSet>
      <dgm:spPr/>
    </dgm:pt>
    <dgm:pt modelId="{392CD05B-7E04-40D8-8270-86D03513168E}" type="pres">
      <dgm:prSet presAssocID="{E34CE4C9-D5BC-4015-9A10-1CF712176AAF}" presName="sibTrans" presStyleLbl="sibTrans2D1" presStyleIdx="3" presStyleCnt="5"/>
      <dgm:spPr/>
    </dgm:pt>
    <dgm:pt modelId="{6D17D796-7AA3-4D35-AC01-5D1D3C217746}" type="pres">
      <dgm:prSet presAssocID="{E34CE4C9-D5BC-4015-9A10-1CF712176AAF}" presName="connectorText" presStyleLbl="sibTrans2D1" presStyleIdx="3" presStyleCnt="5"/>
      <dgm:spPr/>
    </dgm:pt>
    <dgm:pt modelId="{C4B3B72C-BEEC-4D78-BFA1-24293EC53921}" type="pres">
      <dgm:prSet presAssocID="{ACA10714-9810-41B4-B21D-E8668E41D818}" presName="node" presStyleLbl="node1" presStyleIdx="4" presStyleCnt="6">
        <dgm:presLayoutVars>
          <dgm:bulletEnabled val="1"/>
        </dgm:presLayoutVars>
      </dgm:prSet>
      <dgm:spPr/>
    </dgm:pt>
    <dgm:pt modelId="{32C332E2-8E7D-47F5-8205-ED78C767F6AF}" type="pres">
      <dgm:prSet presAssocID="{D5B6D4C8-5007-46B9-9370-9B0CC6B14557}" presName="sibTrans" presStyleLbl="sibTrans2D1" presStyleIdx="4" presStyleCnt="5"/>
      <dgm:spPr/>
    </dgm:pt>
    <dgm:pt modelId="{7E02E6BE-5BEE-4BF5-B111-409A0ED6798B}" type="pres">
      <dgm:prSet presAssocID="{D5B6D4C8-5007-46B9-9370-9B0CC6B14557}" presName="connectorText" presStyleLbl="sibTrans2D1" presStyleIdx="4" presStyleCnt="5"/>
      <dgm:spPr/>
    </dgm:pt>
    <dgm:pt modelId="{9AB05269-7C68-450E-A373-0F125E57B956}" type="pres">
      <dgm:prSet presAssocID="{ECF4B298-5B58-4BC6-86BB-058A9A024D8E}" presName="node" presStyleLbl="node1" presStyleIdx="5" presStyleCnt="6">
        <dgm:presLayoutVars>
          <dgm:bulletEnabled val="1"/>
        </dgm:presLayoutVars>
      </dgm:prSet>
      <dgm:spPr/>
    </dgm:pt>
  </dgm:ptLst>
  <dgm:cxnLst>
    <dgm:cxn modelId="{380DE00C-60DC-4F14-A5E1-09C62EC78338}" srcId="{0B76DA03-69F2-4C82-9358-B2DA04C4875F}" destId="{ACA10714-9810-41B4-B21D-E8668E41D818}" srcOrd="4" destOrd="0" parTransId="{BDFA371A-DC02-49D4-82DA-8827D9DF0571}" sibTransId="{D5B6D4C8-5007-46B9-9370-9B0CC6B14557}"/>
    <dgm:cxn modelId="{9E060A0F-E3C6-46F8-B2BB-E1A5D3592388}" type="presOf" srcId="{8166F554-DF07-47D6-A41C-A6207D9FFB4D}" destId="{83EFB5B2-6041-4C59-A08A-A8672D8BB350}" srcOrd="0" destOrd="0" presId="urn:microsoft.com/office/officeart/2005/8/layout/process5"/>
    <dgm:cxn modelId="{3E83BE1A-10B8-4375-A244-AE43591F35A6}" type="presOf" srcId="{E34CE4C9-D5BC-4015-9A10-1CF712176AAF}" destId="{6D17D796-7AA3-4D35-AC01-5D1D3C217746}" srcOrd="1" destOrd="0" presId="urn:microsoft.com/office/officeart/2005/8/layout/process5"/>
    <dgm:cxn modelId="{9F644526-FCFE-4DBA-9246-90B5C69A9459}" type="presOf" srcId="{A71A8B35-B8DE-4232-805F-BD05DB08887D}" destId="{F18D9228-646D-4013-8E0C-8B73A9E7D480}" srcOrd="1" destOrd="0" presId="urn:microsoft.com/office/officeart/2005/8/layout/process5"/>
    <dgm:cxn modelId="{08040527-4F01-48ED-B512-5BCEED7A3030}" type="presOf" srcId="{A71A8B35-B8DE-4232-805F-BD05DB08887D}" destId="{21B9A2A7-089F-4818-A814-5ACA1DAB3617}" srcOrd="0" destOrd="0" presId="urn:microsoft.com/office/officeart/2005/8/layout/process5"/>
    <dgm:cxn modelId="{2A25753F-E87B-40C5-B6A1-91FC345FAEED}" type="presOf" srcId="{92036D64-0851-4A8C-ADC3-76B2E8649274}" destId="{62508D21-306F-4E7B-ABAB-895D963B8751}" srcOrd="0" destOrd="0" presId="urn:microsoft.com/office/officeart/2005/8/layout/process5"/>
    <dgm:cxn modelId="{55CDDA49-AD04-45F9-878E-8C80EEEC8782}" type="presOf" srcId="{ACA10714-9810-41B4-B21D-E8668E41D818}" destId="{C4B3B72C-BEEC-4D78-BFA1-24293EC53921}" srcOrd="0" destOrd="0" presId="urn:microsoft.com/office/officeart/2005/8/layout/process5"/>
    <dgm:cxn modelId="{4C70116A-15D2-4457-98A8-700EEDB5E6AC}" type="presOf" srcId="{E34CE4C9-D5BC-4015-9A10-1CF712176AAF}" destId="{392CD05B-7E04-40D8-8270-86D03513168E}" srcOrd="0" destOrd="0" presId="urn:microsoft.com/office/officeart/2005/8/layout/process5"/>
    <dgm:cxn modelId="{BB43CA77-A4BE-44EA-81DF-939713B3C5D0}" srcId="{0B76DA03-69F2-4C82-9358-B2DA04C4875F}" destId="{8166F554-DF07-47D6-A41C-A6207D9FFB4D}" srcOrd="0" destOrd="0" parTransId="{A229ABC6-BF59-482C-BF2B-431AC8CD8BAE}" sibTransId="{1111DFCE-9CFF-42F4-AABB-38614523B8D2}"/>
    <dgm:cxn modelId="{B383AD58-EAF9-41E0-844D-158E0613E652}" type="presOf" srcId="{1111DFCE-9CFF-42F4-AABB-38614523B8D2}" destId="{E31B3AF5-64B5-4F90-BB8F-F45638C8B2C1}" srcOrd="0" destOrd="0" presId="urn:microsoft.com/office/officeart/2005/8/layout/process5"/>
    <dgm:cxn modelId="{037F7083-7FF9-44EA-AB2D-DB24D102A38C}" type="presOf" srcId="{47041703-C076-464C-8CEC-8FE28A219450}" destId="{EE5BCAB9-06BE-486F-8219-3CBCB5A13E1F}" srcOrd="0" destOrd="0" presId="urn:microsoft.com/office/officeart/2005/8/layout/process5"/>
    <dgm:cxn modelId="{43C5688D-8CCA-481F-9454-ACB6E4C1B635}" type="presOf" srcId="{ECF4B298-5B58-4BC6-86BB-058A9A024D8E}" destId="{9AB05269-7C68-450E-A373-0F125E57B956}" srcOrd="0" destOrd="0" presId="urn:microsoft.com/office/officeart/2005/8/layout/process5"/>
    <dgm:cxn modelId="{3686EA9A-D240-463F-886D-135211B0A93C}" type="presOf" srcId="{D5B6D4C8-5007-46B9-9370-9B0CC6B14557}" destId="{7E02E6BE-5BEE-4BF5-B111-409A0ED6798B}" srcOrd="1" destOrd="0" presId="urn:microsoft.com/office/officeart/2005/8/layout/process5"/>
    <dgm:cxn modelId="{251DBCAA-BE9E-4BE6-A004-3278C5D76C30}" srcId="{0B76DA03-69F2-4C82-9358-B2DA04C4875F}" destId="{D2DC20DB-2266-44A3-89B7-1DD51323EB2A}" srcOrd="1" destOrd="0" parTransId="{27874DBC-5A69-47E2-A6FA-9289DEF11B67}" sibTransId="{A71A8B35-B8DE-4232-805F-BD05DB08887D}"/>
    <dgm:cxn modelId="{66E5D9AC-A5F7-4943-86B4-E646BB6AD006}" srcId="{0B76DA03-69F2-4C82-9358-B2DA04C4875F}" destId="{ECF4B298-5B58-4BC6-86BB-058A9A024D8E}" srcOrd="5" destOrd="0" parTransId="{B0F9D5C9-5D7C-4EE1-81D4-456A35003E00}" sibTransId="{E7F75461-848E-4E2E-AF26-F2F731784ECA}"/>
    <dgm:cxn modelId="{ED61A0AD-3AF3-4B30-B07E-49C4ADA82B1A}" srcId="{0B76DA03-69F2-4C82-9358-B2DA04C4875F}" destId="{47041703-C076-464C-8CEC-8FE28A219450}" srcOrd="3" destOrd="0" parTransId="{77975CEA-122B-49E5-B8D9-52FA6E4D2D7F}" sibTransId="{E34CE4C9-D5BC-4015-9A10-1CF712176AAF}"/>
    <dgm:cxn modelId="{D0C89FBB-FBB6-4F7B-927C-F0C115D1E283}" srcId="{0B76DA03-69F2-4C82-9358-B2DA04C4875F}" destId="{B3983A5D-9476-4470-8D74-6DD452BB429C}" srcOrd="2" destOrd="0" parTransId="{9777A8E0-D82F-4304-ADE4-7B917AEC5000}" sibTransId="{92036D64-0851-4A8C-ADC3-76B2E8649274}"/>
    <dgm:cxn modelId="{F2B645C3-0F6A-436E-9684-A6A9BEA8E5F9}" type="presOf" srcId="{1111DFCE-9CFF-42F4-AABB-38614523B8D2}" destId="{0BE98924-7A8E-4A41-AC37-3EE69BC72341}" srcOrd="1" destOrd="0" presId="urn:microsoft.com/office/officeart/2005/8/layout/process5"/>
    <dgm:cxn modelId="{EEFB32C5-4767-4A06-85F7-0918803A9310}" type="presOf" srcId="{D2DC20DB-2266-44A3-89B7-1DD51323EB2A}" destId="{A75520E9-6B62-4ED9-9894-74931403659E}" srcOrd="0" destOrd="0" presId="urn:microsoft.com/office/officeart/2005/8/layout/process5"/>
    <dgm:cxn modelId="{5531BFDE-FDEE-4A0B-83F6-72D0FF91060E}" type="presOf" srcId="{92036D64-0851-4A8C-ADC3-76B2E8649274}" destId="{16920E18-918F-405B-BD2A-F72FE94875FD}" srcOrd="1" destOrd="0" presId="urn:microsoft.com/office/officeart/2005/8/layout/process5"/>
    <dgm:cxn modelId="{B629D7E9-DB8B-402B-B363-D1792840CC67}" type="presOf" srcId="{0B76DA03-69F2-4C82-9358-B2DA04C4875F}" destId="{A0B09A55-A365-4622-B393-0D8576182EE4}" srcOrd="0" destOrd="0" presId="urn:microsoft.com/office/officeart/2005/8/layout/process5"/>
    <dgm:cxn modelId="{122A86F0-659D-49AF-9F71-6B2EA39CA457}" type="presOf" srcId="{B3983A5D-9476-4470-8D74-6DD452BB429C}" destId="{11453D57-14CB-4959-90FD-8C99B42D4153}" srcOrd="0" destOrd="0" presId="urn:microsoft.com/office/officeart/2005/8/layout/process5"/>
    <dgm:cxn modelId="{EE15BBF0-631C-4C89-BEAA-60428973E682}" type="presOf" srcId="{D5B6D4C8-5007-46B9-9370-9B0CC6B14557}" destId="{32C332E2-8E7D-47F5-8205-ED78C767F6AF}" srcOrd="0" destOrd="0" presId="urn:microsoft.com/office/officeart/2005/8/layout/process5"/>
    <dgm:cxn modelId="{CF9A1AE1-78FC-4ECC-A7D3-961BADBBE607}" type="presParOf" srcId="{A0B09A55-A365-4622-B393-0D8576182EE4}" destId="{83EFB5B2-6041-4C59-A08A-A8672D8BB350}" srcOrd="0" destOrd="0" presId="urn:microsoft.com/office/officeart/2005/8/layout/process5"/>
    <dgm:cxn modelId="{EF0784F4-C437-447E-BFA2-0DAA1EC4EDB2}" type="presParOf" srcId="{A0B09A55-A365-4622-B393-0D8576182EE4}" destId="{E31B3AF5-64B5-4F90-BB8F-F45638C8B2C1}" srcOrd="1" destOrd="0" presId="urn:microsoft.com/office/officeart/2005/8/layout/process5"/>
    <dgm:cxn modelId="{9CE3D3F8-E261-4795-866B-EF523A507E73}" type="presParOf" srcId="{E31B3AF5-64B5-4F90-BB8F-F45638C8B2C1}" destId="{0BE98924-7A8E-4A41-AC37-3EE69BC72341}" srcOrd="0" destOrd="0" presId="urn:microsoft.com/office/officeart/2005/8/layout/process5"/>
    <dgm:cxn modelId="{92DEF99E-68B5-43A4-9D87-8C67CD748ED7}" type="presParOf" srcId="{A0B09A55-A365-4622-B393-0D8576182EE4}" destId="{A75520E9-6B62-4ED9-9894-74931403659E}" srcOrd="2" destOrd="0" presId="urn:microsoft.com/office/officeart/2005/8/layout/process5"/>
    <dgm:cxn modelId="{36999EA4-CFF7-4905-8E40-00BB0F814C9A}" type="presParOf" srcId="{A0B09A55-A365-4622-B393-0D8576182EE4}" destId="{21B9A2A7-089F-4818-A814-5ACA1DAB3617}" srcOrd="3" destOrd="0" presId="urn:microsoft.com/office/officeart/2005/8/layout/process5"/>
    <dgm:cxn modelId="{08AAD220-A850-4E4C-968E-1FF520D29D4D}" type="presParOf" srcId="{21B9A2A7-089F-4818-A814-5ACA1DAB3617}" destId="{F18D9228-646D-4013-8E0C-8B73A9E7D480}" srcOrd="0" destOrd="0" presId="urn:microsoft.com/office/officeart/2005/8/layout/process5"/>
    <dgm:cxn modelId="{91FB04BB-F98F-4490-9A91-4A5590F9E0F0}" type="presParOf" srcId="{A0B09A55-A365-4622-B393-0D8576182EE4}" destId="{11453D57-14CB-4959-90FD-8C99B42D4153}" srcOrd="4" destOrd="0" presId="urn:microsoft.com/office/officeart/2005/8/layout/process5"/>
    <dgm:cxn modelId="{20E433CA-C5A6-4E30-AF1C-8FE08F54567A}" type="presParOf" srcId="{A0B09A55-A365-4622-B393-0D8576182EE4}" destId="{62508D21-306F-4E7B-ABAB-895D963B8751}" srcOrd="5" destOrd="0" presId="urn:microsoft.com/office/officeart/2005/8/layout/process5"/>
    <dgm:cxn modelId="{171998B6-A061-48A5-B101-4190056AF4FB}" type="presParOf" srcId="{62508D21-306F-4E7B-ABAB-895D963B8751}" destId="{16920E18-918F-405B-BD2A-F72FE94875FD}" srcOrd="0" destOrd="0" presId="urn:microsoft.com/office/officeart/2005/8/layout/process5"/>
    <dgm:cxn modelId="{DEB1D588-9BD7-4E88-844E-02128B1DA3DE}" type="presParOf" srcId="{A0B09A55-A365-4622-B393-0D8576182EE4}" destId="{EE5BCAB9-06BE-486F-8219-3CBCB5A13E1F}" srcOrd="6" destOrd="0" presId="urn:microsoft.com/office/officeart/2005/8/layout/process5"/>
    <dgm:cxn modelId="{4723824E-E8D3-4BAC-B984-D3EBE2B4FFC8}" type="presParOf" srcId="{A0B09A55-A365-4622-B393-0D8576182EE4}" destId="{392CD05B-7E04-40D8-8270-86D03513168E}" srcOrd="7" destOrd="0" presId="urn:microsoft.com/office/officeart/2005/8/layout/process5"/>
    <dgm:cxn modelId="{9E52260D-091B-4D90-98BE-5DD915B086C2}" type="presParOf" srcId="{392CD05B-7E04-40D8-8270-86D03513168E}" destId="{6D17D796-7AA3-4D35-AC01-5D1D3C217746}" srcOrd="0" destOrd="0" presId="urn:microsoft.com/office/officeart/2005/8/layout/process5"/>
    <dgm:cxn modelId="{93C31D36-DC33-4F97-B70A-D12170AD6CD1}" type="presParOf" srcId="{A0B09A55-A365-4622-B393-0D8576182EE4}" destId="{C4B3B72C-BEEC-4D78-BFA1-24293EC53921}" srcOrd="8" destOrd="0" presId="urn:microsoft.com/office/officeart/2005/8/layout/process5"/>
    <dgm:cxn modelId="{CB1DF4ED-4426-4491-90B8-3282C5E473F6}" type="presParOf" srcId="{A0B09A55-A365-4622-B393-0D8576182EE4}" destId="{32C332E2-8E7D-47F5-8205-ED78C767F6AF}" srcOrd="9" destOrd="0" presId="urn:microsoft.com/office/officeart/2005/8/layout/process5"/>
    <dgm:cxn modelId="{649653DC-67F9-4ED1-8718-340CC4213E94}" type="presParOf" srcId="{32C332E2-8E7D-47F5-8205-ED78C767F6AF}" destId="{7E02E6BE-5BEE-4BF5-B111-409A0ED6798B}" srcOrd="0" destOrd="0" presId="urn:microsoft.com/office/officeart/2005/8/layout/process5"/>
    <dgm:cxn modelId="{8C691B39-E3C0-4ED1-B049-9A29838C6ACA}" type="presParOf" srcId="{A0B09A55-A365-4622-B393-0D8576182EE4}" destId="{9AB05269-7C68-450E-A373-0F125E57B956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725DB84-BAA2-4F93-8D0B-96DEB6EF99FF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KE"/>
        </a:p>
      </dgm:t>
    </dgm:pt>
    <dgm:pt modelId="{D75756AE-9867-4D4B-B48A-515589A53AE0}">
      <dgm:prSet phldrT="[Text]" custT="1"/>
      <dgm:spPr/>
      <dgm:t>
        <a:bodyPr/>
        <a:lstStyle/>
        <a:p>
          <a:r>
            <a:rPr lang="en-US" sz="2000" dirty="0"/>
            <a:t>CENTRAL SERVER</a:t>
          </a:r>
        </a:p>
        <a:p>
          <a:r>
            <a:rPr lang="en-US" sz="2000" dirty="0"/>
            <a:t>Aggregates weights (</a:t>
          </a:r>
          <a:r>
            <a:rPr lang="en-US" sz="2000" dirty="0" err="1"/>
            <a:t>FedAvg</a:t>
          </a:r>
          <a:r>
            <a:rPr lang="en-US" sz="2000" dirty="0"/>
            <a:t>)</a:t>
          </a:r>
        </a:p>
        <a:p>
          <a:r>
            <a:rPr lang="en-US" sz="2000" dirty="0"/>
            <a:t>Sends </a:t>
          </a:r>
          <a:r>
            <a:rPr lang="en-US" sz="2000" dirty="0" err="1"/>
            <a:t>gobal</a:t>
          </a:r>
          <a:r>
            <a:rPr lang="en-US" sz="2000" dirty="0"/>
            <a:t> model back</a:t>
          </a:r>
          <a:endParaRPr lang="en-KE" sz="2000" dirty="0"/>
        </a:p>
      </dgm:t>
    </dgm:pt>
    <dgm:pt modelId="{C836B5D2-50ED-4DAF-921E-06210CCC6601}" type="parTrans" cxnId="{D2A807C8-5F9C-44DF-A780-8831D4CBDDE5}">
      <dgm:prSet/>
      <dgm:spPr/>
      <dgm:t>
        <a:bodyPr/>
        <a:lstStyle/>
        <a:p>
          <a:endParaRPr lang="en-KE"/>
        </a:p>
      </dgm:t>
    </dgm:pt>
    <dgm:pt modelId="{32338215-FF32-4203-93EF-FA8B4D09B037}" type="sibTrans" cxnId="{D2A807C8-5F9C-44DF-A780-8831D4CBDDE5}">
      <dgm:prSet/>
      <dgm:spPr/>
      <dgm:t>
        <a:bodyPr/>
        <a:lstStyle/>
        <a:p>
          <a:endParaRPr lang="en-KE"/>
        </a:p>
      </dgm:t>
    </dgm:pt>
    <dgm:pt modelId="{020E5902-42A2-4A2F-B638-394DB5DD295F}">
      <dgm:prSet phldrT="[Text]" custT="1"/>
      <dgm:spPr/>
      <dgm:t>
        <a:bodyPr/>
        <a:lstStyle/>
        <a:p>
          <a:r>
            <a:rPr lang="en-US" sz="1200" dirty="0"/>
            <a:t>Client 1 </a:t>
          </a:r>
        </a:p>
        <a:p>
          <a:r>
            <a:rPr lang="en-US" sz="1200" dirty="0"/>
            <a:t>Age </a:t>
          </a:r>
          <a:r>
            <a:rPr lang="en-US" sz="1200" dirty="0" err="1"/>
            <a:t>Age</a:t>
          </a:r>
          <a:r>
            <a:rPr lang="en-US" sz="1200" dirty="0"/>
            <a:t> ≤ 30</a:t>
          </a:r>
        </a:p>
        <a:p>
          <a:r>
            <a:rPr lang="en-US" sz="1200" dirty="0"/>
            <a:t>30, 396 </a:t>
          </a:r>
          <a:r>
            <a:rPr lang="en-US" sz="1200" dirty="0" err="1"/>
            <a:t>cust</a:t>
          </a:r>
          <a:endParaRPr lang="en-US" sz="1200" dirty="0"/>
        </a:p>
        <a:p>
          <a:r>
            <a:rPr lang="en-US" sz="1200" dirty="0"/>
            <a:t>Train locally</a:t>
          </a:r>
        </a:p>
        <a:p>
          <a:r>
            <a:rPr lang="en-US" sz="1200" dirty="0"/>
            <a:t>Send weights</a:t>
          </a:r>
        </a:p>
        <a:p>
          <a:r>
            <a:rPr lang="en-US" sz="1200" dirty="0"/>
            <a:t>(No raw data</a:t>
          </a:r>
          <a:r>
            <a:rPr lang="en-US" sz="1050" dirty="0"/>
            <a:t>)</a:t>
          </a:r>
          <a:endParaRPr lang="en-KE" sz="1050" dirty="0"/>
        </a:p>
      </dgm:t>
    </dgm:pt>
    <dgm:pt modelId="{D996A889-02CD-4CA4-B090-06554EB4EFA0}" type="parTrans" cxnId="{83735D49-E302-4EF5-B67E-98FD7ADDF499}">
      <dgm:prSet/>
      <dgm:spPr/>
      <dgm:t>
        <a:bodyPr/>
        <a:lstStyle/>
        <a:p>
          <a:endParaRPr lang="en-KE"/>
        </a:p>
      </dgm:t>
    </dgm:pt>
    <dgm:pt modelId="{3D86D597-F5F6-4791-A05F-4FEDF3E38344}" type="sibTrans" cxnId="{83735D49-E302-4EF5-B67E-98FD7ADDF499}">
      <dgm:prSet/>
      <dgm:spPr/>
      <dgm:t>
        <a:bodyPr/>
        <a:lstStyle/>
        <a:p>
          <a:endParaRPr lang="en-KE"/>
        </a:p>
      </dgm:t>
    </dgm:pt>
    <dgm:pt modelId="{9A358EEA-2CDB-4512-955E-A089F179D727}">
      <dgm:prSet phldrT="[Text]" custT="1"/>
      <dgm:spPr/>
      <dgm:t>
        <a:bodyPr/>
        <a:lstStyle/>
        <a:p>
          <a:endParaRPr lang="en-US" sz="1600" dirty="0"/>
        </a:p>
        <a:p>
          <a:r>
            <a:rPr lang="en-US" sz="1200" dirty="0"/>
            <a:t>Client 2</a:t>
          </a:r>
        </a:p>
        <a:p>
          <a:r>
            <a:rPr lang="en-US" sz="1200" dirty="0"/>
            <a:t>Age 31-50</a:t>
          </a:r>
        </a:p>
        <a:p>
          <a:r>
            <a:rPr lang="en-US" sz="1200" dirty="0"/>
            <a:t>7,147 </a:t>
          </a:r>
          <a:r>
            <a:rPr lang="en-US" sz="1200" dirty="0" err="1"/>
            <a:t>cust</a:t>
          </a:r>
          <a:endParaRPr lang="en-US" sz="1200" dirty="0"/>
        </a:p>
        <a:p>
          <a:r>
            <a:rPr lang="en-US" sz="1200" dirty="0"/>
            <a:t>Train locally</a:t>
          </a:r>
        </a:p>
        <a:p>
          <a:r>
            <a:rPr lang="en-US" sz="1200" dirty="0"/>
            <a:t>Send weights</a:t>
          </a:r>
        </a:p>
        <a:p>
          <a:r>
            <a:rPr lang="en-US" sz="1200" dirty="0"/>
            <a:t>(No raw data)</a:t>
          </a:r>
        </a:p>
        <a:p>
          <a:endParaRPr lang="en-KE" sz="1600" dirty="0"/>
        </a:p>
      </dgm:t>
    </dgm:pt>
    <dgm:pt modelId="{5B3A5D46-D0A0-4394-8D2B-42F115EFF9AC}" type="parTrans" cxnId="{4B5BE5D9-CFA8-4AED-B94F-A64594A1C1C6}">
      <dgm:prSet/>
      <dgm:spPr/>
      <dgm:t>
        <a:bodyPr/>
        <a:lstStyle/>
        <a:p>
          <a:endParaRPr lang="en-KE"/>
        </a:p>
      </dgm:t>
    </dgm:pt>
    <dgm:pt modelId="{D43701FA-4D4A-4500-82FD-E8895BF9E733}" type="sibTrans" cxnId="{4B5BE5D9-CFA8-4AED-B94F-A64594A1C1C6}">
      <dgm:prSet/>
      <dgm:spPr/>
      <dgm:t>
        <a:bodyPr/>
        <a:lstStyle/>
        <a:p>
          <a:endParaRPr lang="en-KE"/>
        </a:p>
      </dgm:t>
    </dgm:pt>
    <dgm:pt modelId="{6A1BAC75-2E8B-4031-8E96-F22E516EDD13}">
      <dgm:prSet phldrT="[Text]" custT="1"/>
      <dgm:spPr/>
      <dgm:t>
        <a:bodyPr/>
        <a:lstStyle/>
        <a:p>
          <a:r>
            <a:rPr lang="en-US" sz="1200" dirty="0"/>
            <a:t>Client 3</a:t>
          </a:r>
        </a:p>
        <a:p>
          <a:r>
            <a:rPr lang="en-US" sz="1200" dirty="0"/>
            <a:t>Age &gt; 50</a:t>
          </a:r>
        </a:p>
        <a:p>
          <a:r>
            <a:rPr lang="en-US" sz="1200" dirty="0"/>
            <a:t>2,181 </a:t>
          </a:r>
          <a:r>
            <a:rPr lang="en-US" sz="1200" dirty="0" err="1"/>
            <a:t>cust</a:t>
          </a:r>
          <a:endParaRPr lang="en-US" sz="1200" dirty="0"/>
        </a:p>
        <a:p>
          <a:r>
            <a:rPr lang="en-US" sz="1200" dirty="0"/>
            <a:t>Train locally</a:t>
          </a:r>
        </a:p>
        <a:p>
          <a:r>
            <a:rPr lang="en-US" sz="1200" dirty="0"/>
            <a:t>Send weights</a:t>
          </a:r>
        </a:p>
        <a:p>
          <a:r>
            <a:rPr lang="en-US" sz="1200" dirty="0"/>
            <a:t>(No raw data</a:t>
          </a:r>
          <a:r>
            <a:rPr lang="en-US" sz="1600" dirty="0"/>
            <a:t>)</a:t>
          </a:r>
          <a:endParaRPr lang="en-KE" sz="1600" dirty="0"/>
        </a:p>
      </dgm:t>
    </dgm:pt>
    <dgm:pt modelId="{6C852068-B87B-4FD2-AD0D-DB7FD22C1F96}" type="parTrans" cxnId="{5CDEB32F-3623-4B71-A979-A9D80196588D}">
      <dgm:prSet/>
      <dgm:spPr/>
      <dgm:t>
        <a:bodyPr/>
        <a:lstStyle/>
        <a:p>
          <a:endParaRPr lang="en-KE"/>
        </a:p>
      </dgm:t>
    </dgm:pt>
    <dgm:pt modelId="{C4255345-E62B-463B-A5CB-72F5B0273901}" type="sibTrans" cxnId="{5CDEB32F-3623-4B71-A979-A9D80196588D}">
      <dgm:prSet/>
      <dgm:spPr/>
      <dgm:t>
        <a:bodyPr/>
        <a:lstStyle/>
        <a:p>
          <a:endParaRPr lang="en-KE"/>
        </a:p>
      </dgm:t>
    </dgm:pt>
    <dgm:pt modelId="{C3EF82B0-FBED-4A6B-9797-C4C9FC111940}" type="pres">
      <dgm:prSet presAssocID="{D725DB84-BAA2-4F93-8D0B-96DEB6EF99F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0551A1A-40B2-4143-BAA8-E89E4A90206B}" type="pres">
      <dgm:prSet presAssocID="{D75756AE-9867-4D4B-B48A-515589A53AE0}" presName="hierRoot1" presStyleCnt="0">
        <dgm:presLayoutVars>
          <dgm:hierBranch val="init"/>
        </dgm:presLayoutVars>
      </dgm:prSet>
      <dgm:spPr/>
    </dgm:pt>
    <dgm:pt modelId="{FA4323D4-A661-4F68-B820-FFFDAF3F39D6}" type="pres">
      <dgm:prSet presAssocID="{D75756AE-9867-4D4B-B48A-515589A53AE0}" presName="rootComposite1" presStyleCnt="0"/>
      <dgm:spPr/>
    </dgm:pt>
    <dgm:pt modelId="{738B9CDB-FC30-47C2-979F-E0B1165FD32D}" type="pres">
      <dgm:prSet presAssocID="{D75756AE-9867-4D4B-B48A-515589A53AE0}" presName="rootText1" presStyleLbl="node0" presStyleIdx="0" presStyleCnt="1" custScaleX="235423">
        <dgm:presLayoutVars>
          <dgm:chPref val="3"/>
        </dgm:presLayoutVars>
      </dgm:prSet>
      <dgm:spPr/>
    </dgm:pt>
    <dgm:pt modelId="{F9120C7D-7727-4CC8-B6B7-80EFD359BB61}" type="pres">
      <dgm:prSet presAssocID="{D75756AE-9867-4D4B-B48A-515589A53AE0}" presName="rootConnector1" presStyleLbl="node1" presStyleIdx="0" presStyleCnt="0"/>
      <dgm:spPr/>
    </dgm:pt>
    <dgm:pt modelId="{A5979086-FABE-4CE7-9C4E-F24B44BCED09}" type="pres">
      <dgm:prSet presAssocID="{D75756AE-9867-4D4B-B48A-515589A53AE0}" presName="hierChild2" presStyleCnt="0"/>
      <dgm:spPr/>
    </dgm:pt>
    <dgm:pt modelId="{98CB94CC-4AEF-4CCB-929D-D520D3019AAB}" type="pres">
      <dgm:prSet presAssocID="{D996A889-02CD-4CA4-B090-06554EB4EFA0}" presName="Name37" presStyleLbl="parChTrans1D2" presStyleIdx="0" presStyleCnt="3"/>
      <dgm:spPr/>
    </dgm:pt>
    <dgm:pt modelId="{80D94FFE-BF03-4B4C-AD57-4C83F891181C}" type="pres">
      <dgm:prSet presAssocID="{020E5902-42A2-4A2F-B638-394DB5DD295F}" presName="hierRoot2" presStyleCnt="0">
        <dgm:presLayoutVars>
          <dgm:hierBranch val="init"/>
        </dgm:presLayoutVars>
      </dgm:prSet>
      <dgm:spPr/>
    </dgm:pt>
    <dgm:pt modelId="{0D8927A0-D01D-4D55-ABE0-1D0FFE332CA8}" type="pres">
      <dgm:prSet presAssocID="{020E5902-42A2-4A2F-B638-394DB5DD295F}" presName="rootComposite" presStyleCnt="0"/>
      <dgm:spPr/>
    </dgm:pt>
    <dgm:pt modelId="{72A87A63-C150-46B1-B237-BDACB9D6233B}" type="pres">
      <dgm:prSet presAssocID="{020E5902-42A2-4A2F-B638-394DB5DD295F}" presName="rootText" presStyleLbl="node2" presStyleIdx="0" presStyleCnt="3" custScaleX="123535" custScaleY="130386">
        <dgm:presLayoutVars>
          <dgm:chPref val="3"/>
        </dgm:presLayoutVars>
      </dgm:prSet>
      <dgm:spPr/>
    </dgm:pt>
    <dgm:pt modelId="{0E5CC913-7347-4A35-A8AE-0333F62DF521}" type="pres">
      <dgm:prSet presAssocID="{020E5902-42A2-4A2F-B638-394DB5DD295F}" presName="rootConnector" presStyleLbl="node2" presStyleIdx="0" presStyleCnt="3"/>
      <dgm:spPr/>
    </dgm:pt>
    <dgm:pt modelId="{A05AD95F-054F-4090-94D9-7AE4D14897CC}" type="pres">
      <dgm:prSet presAssocID="{020E5902-42A2-4A2F-B638-394DB5DD295F}" presName="hierChild4" presStyleCnt="0"/>
      <dgm:spPr/>
    </dgm:pt>
    <dgm:pt modelId="{DA829619-A6FB-45DD-BC1B-DE81D36AD8E7}" type="pres">
      <dgm:prSet presAssocID="{020E5902-42A2-4A2F-B638-394DB5DD295F}" presName="hierChild5" presStyleCnt="0"/>
      <dgm:spPr/>
    </dgm:pt>
    <dgm:pt modelId="{6F976AFA-A1AC-4C24-A716-6B9A20FF5CF1}" type="pres">
      <dgm:prSet presAssocID="{5B3A5D46-D0A0-4394-8D2B-42F115EFF9AC}" presName="Name37" presStyleLbl="parChTrans1D2" presStyleIdx="1" presStyleCnt="3"/>
      <dgm:spPr/>
    </dgm:pt>
    <dgm:pt modelId="{B648FCCC-C6F4-49AD-A465-CC94C19FBBC3}" type="pres">
      <dgm:prSet presAssocID="{9A358EEA-2CDB-4512-955E-A089F179D727}" presName="hierRoot2" presStyleCnt="0">
        <dgm:presLayoutVars>
          <dgm:hierBranch val="init"/>
        </dgm:presLayoutVars>
      </dgm:prSet>
      <dgm:spPr/>
    </dgm:pt>
    <dgm:pt modelId="{C42CB7CF-59FB-4B0A-B16B-2198BF43CA7E}" type="pres">
      <dgm:prSet presAssocID="{9A358EEA-2CDB-4512-955E-A089F179D727}" presName="rootComposite" presStyleCnt="0"/>
      <dgm:spPr/>
    </dgm:pt>
    <dgm:pt modelId="{8FF6A561-9ECA-49E3-9736-881BB83D8085}" type="pres">
      <dgm:prSet presAssocID="{9A358EEA-2CDB-4512-955E-A089F179D727}" presName="rootText" presStyleLbl="node2" presStyleIdx="1" presStyleCnt="3" custScaleX="119745" custScaleY="131882">
        <dgm:presLayoutVars>
          <dgm:chPref val="3"/>
        </dgm:presLayoutVars>
      </dgm:prSet>
      <dgm:spPr/>
    </dgm:pt>
    <dgm:pt modelId="{4D95DBDE-8915-426F-9C83-EAC8F814BACD}" type="pres">
      <dgm:prSet presAssocID="{9A358EEA-2CDB-4512-955E-A089F179D727}" presName="rootConnector" presStyleLbl="node2" presStyleIdx="1" presStyleCnt="3"/>
      <dgm:spPr/>
    </dgm:pt>
    <dgm:pt modelId="{E2E43EE2-F6B9-4C85-A3D3-7FECAEFAAF6B}" type="pres">
      <dgm:prSet presAssocID="{9A358EEA-2CDB-4512-955E-A089F179D727}" presName="hierChild4" presStyleCnt="0"/>
      <dgm:spPr/>
    </dgm:pt>
    <dgm:pt modelId="{0FBA99A2-D431-45D0-B953-FA1E9DAB219F}" type="pres">
      <dgm:prSet presAssocID="{9A358EEA-2CDB-4512-955E-A089F179D727}" presName="hierChild5" presStyleCnt="0"/>
      <dgm:spPr/>
    </dgm:pt>
    <dgm:pt modelId="{57D1B6AE-5ACC-4CFF-9489-2C40CD7F2D0F}" type="pres">
      <dgm:prSet presAssocID="{6C852068-B87B-4FD2-AD0D-DB7FD22C1F96}" presName="Name37" presStyleLbl="parChTrans1D2" presStyleIdx="2" presStyleCnt="3"/>
      <dgm:spPr/>
    </dgm:pt>
    <dgm:pt modelId="{15CD94F7-7070-438D-B2BC-A1047F83042B}" type="pres">
      <dgm:prSet presAssocID="{6A1BAC75-2E8B-4031-8E96-F22E516EDD13}" presName="hierRoot2" presStyleCnt="0">
        <dgm:presLayoutVars>
          <dgm:hierBranch val="init"/>
        </dgm:presLayoutVars>
      </dgm:prSet>
      <dgm:spPr/>
    </dgm:pt>
    <dgm:pt modelId="{81D1907E-A38A-4519-9090-D11947FA8AA7}" type="pres">
      <dgm:prSet presAssocID="{6A1BAC75-2E8B-4031-8E96-F22E516EDD13}" presName="rootComposite" presStyleCnt="0"/>
      <dgm:spPr/>
    </dgm:pt>
    <dgm:pt modelId="{F1F5796C-55FE-415B-9061-F31E2A4178AC}" type="pres">
      <dgm:prSet presAssocID="{6A1BAC75-2E8B-4031-8E96-F22E516EDD13}" presName="rootText" presStyleLbl="node2" presStyleIdx="2" presStyleCnt="3" custScaleY="131772">
        <dgm:presLayoutVars>
          <dgm:chPref val="3"/>
        </dgm:presLayoutVars>
      </dgm:prSet>
      <dgm:spPr/>
    </dgm:pt>
    <dgm:pt modelId="{198461D9-D578-4CB9-BF2A-918D4712368A}" type="pres">
      <dgm:prSet presAssocID="{6A1BAC75-2E8B-4031-8E96-F22E516EDD13}" presName="rootConnector" presStyleLbl="node2" presStyleIdx="2" presStyleCnt="3"/>
      <dgm:spPr/>
    </dgm:pt>
    <dgm:pt modelId="{3D630BF5-7ED4-4B80-8D1F-E9020A88D1E0}" type="pres">
      <dgm:prSet presAssocID="{6A1BAC75-2E8B-4031-8E96-F22E516EDD13}" presName="hierChild4" presStyleCnt="0"/>
      <dgm:spPr/>
    </dgm:pt>
    <dgm:pt modelId="{73FD5B1F-F378-423E-A015-B0B2E1C2C3CE}" type="pres">
      <dgm:prSet presAssocID="{6A1BAC75-2E8B-4031-8E96-F22E516EDD13}" presName="hierChild5" presStyleCnt="0"/>
      <dgm:spPr/>
    </dgm:pt>
    <dgm:pt modelId="{AD29F2BB-F13F-4E89-88A9-828B03FBE54E}" type="pres">
      <dgm:prSet presAssocID="{D75756AE-9867-4D4B-B48A-515589A53AE0}" presName="hierChild3" presStyleCnt="0"/>
      <dgm:spPr/>
    </dgm:pt>
  </dgm:ptLst>
  <dgm:cxnLst>
    <dgm:cxn modelId="{49035506-BE46-49A9-A33C-3A7859BE8082}" type="presOf" srcId="{5B3A5D46-D0A0-4394-8D2B-42F115EFF9AC}" destId="{6F976AFA-A1AC-4C24-A716-6B9A20FF5CF1}" srcOrd="0" destOrd="0" presId="urn:microsoft.com/office/officeart/2005/8/layout/orgChart1"/>
    <dgm:cxn modelId="{F31B371B-72EE-436A-8AC7-B0183CAABF62}" type="presOf" srcId="{6C852068-B87B-4FD2-AD0D-DB7FD22C1F96}" destId="{57D1B6AE-5ACC-4CFF-9489-2C40CD7F2D0F}" srcOrd="0" destOrd="0" presId="urn:microsoft.com/office/officeart/2005/8/layout/orgChart1"/>
    <dgm:cxn modelId="{5CDEB32F-3623-4B71-A979-A9D80196588D}" srcId="{D75756AE-9867-4D4B-B48A-515589A53AE0}" destId="{6A1BAC75-2E8B-4031-8E96-F22E516EDD13}" srcOrd="2" destOrd="0" parTransId="{6C852068-B87B-4FD2-AD0D-DB7FD22C1F96}" sibTransId="{C4255345-E62B-463B-A5CB-72F5B0273901}"/>
    <dgm:cxn modelId="{ECAAA837-961F-419B-ABB5-1C46863CFDE6}" type="presOf" srcId="{D996A889-02CD-4CA4-B090-06554EB4EFA0}" destId="{98CB94CC-4AEF-4CCB-929D-D520D3019AAB}" srcOrd="0" destOrd="0" presId="urn:microsoft.com/office/officeart/2005/8/layout/orgChart1"/>
    <dgm:cxn modelId="{2A38B745-649D-4079-B342-044C1BBDAA68}" type="presOf" srcId="{020E5902-42A2-4A2F-B638-394DB5DD295F}" destId="{72A87A63-C150-46B1-B237-BDACB9D6233B}" srcOrd="0" destOrd="0" presId="urn:microsoft.com/office/officeart/2005/8/layout/orgChart1"/>
    <dgm:cxn modelId="{83735D49-E302-4EF5-B67E-98FD7ADDF499}" srcId="{D75756AE-9867-4D4B-B48A-515589A53AE0}" destId="{020E5902-42A2-4A2F-B638-394DB5DD295F}" srcOrd="0" destOrd="0" parTransId="{D996A889-02CD-4CA4-B090-06554EB4EFA0}" sibTransId="{3D86D597-F5F6-4791-A05F-4FEDF3E38344}"/>
    <dgm:cxn modelId="{EF82D24D-7F9C-4184-A6D6-E59D1F2CA2C7}" type="presOf" srcId="{6A1BAC75-2E8B-4031-8E96-F22E516EDD13}" destId="{198461D9-D578-4CB9-BF2A-918D4712368A}" srcOrd="1" destOrd="0" presId="urn:microsoft.com/office/officeart/2005/8/layout/orgChart1"/>
    <dgm:cxn modelId="{B600DA7A-7786-4C7F-8A46-3048BF71DD06}" type="presOf" srcId="{D75756AE-9867-4D4B-B48A-515589A53AE0}" destId="{738B9CDB-FC30-47C2-979F-E0B1165FD32D}" srcOrd="0" destOrd="0" presId="urn:microsoft.com/office/officeart/2005/8/layout/orgChart1"/>
    <dgm:cxn modelId="{E8419D8F-910F-4B59-AD78-878597573E3B}" type="presOf" srcId="{D725DB84-BAA2-4F93-8D0B-96DEB6EF99FF}" destId="{C3EF82B0-FBED-4A6B-9797-C4C9FC111940}" srcOrd="0" destOrd="0" presId="urn:microsoft.com/office/officeart/2005/8/layout/orgChart1"/>
    <dgm:cxn modelId="{24FC78B6-A173-4862-8B04-0558533082BB}" type="presOf" srcId="{9A358EEA-2CDB-4512-955E-A089F179D727}" destId="{8FF6A561-9ECA-49E3-9736-881BB83D8085}" srcOrd="0" destOrd="0" presId="urn:microsoft.com/office/officeart/2005/8/layout/orgChart1"/>
    <dgm:cxn modelId="{E66F15C1-9453-4E32-9196-2B46A39C48F9}" type="presOf" srcId="{D75756AE-9867-4D4B-B48A-515589A53AE0}" destId="{F9120C7D-7727-4CC8-B6B7-80EFD359BB61}" srcOrd="1" destOrd="0" presId="urn:microsoft.com/office/officeart/2005/8/layout/orgChart1"/>
    <dgm:cxn modelId="{D2A807C8-5F9C-44DF-A780-8831D4CBDDE5}" srcId="{D725DB84-BAA2-4F93-8D0B-96DEB6EF99FF}" destId="{D75756AE-9867-4D4B-B48A-515589A53AE0}" srcOrd="0" destOrd="0" parTransId="{C836B5D2-50ED-4DAF-921E-06210CCC6601}" sibTransId="{32338215-FF32-4203-93EF-FA8B4D09B037}"/>
    <dgm:cxn modelId="{4B5BE5D9-CFA8-4AED-B94F-A64594A1C1C6}" srcId="{D75756AE-9867-4D4B-B48A-515589A53AE0}" destId="{9A358EEA-2CDB-4512-955E-A089F179D727}" srcOrd="1" destOrd="0" parTransId="{5B3A5D46-D0A0-4394-8D2B-42F115EFF9AC}" sibTransId="{D43701FA-4D4A-4500-82FD-E8895BF9E733}"/>
    <dgm:cxn modelId="{03E52CEC-B9C0-4075-B255-AA5CAE2465C5}" type="presOf" srcId="{6A1BAC75-2E8B-4031-8E96-F22E516EDD13}" destId="{F1F5796C-55FE-415B-9061-F31E2A4178AC}" srcOrd="0" destOrd="0" presId="urn:microsoft.com/office/officeart/2005/8/layout/orgChart1"/>
    <dgm:cxn modelId="{88A454F3-C1E0-4C59-9E00-10F6CCF8508F}" type="presOf" srcId="{9A358EEA-2CDB-4512-955E-A089F179D727}" destId="{4D95DBDE-8915-426F-9C83-EAC8F814BACD}" srcOrd="1" destOrd="0" presId="urn:microsoft.com/office/officeart/2005/8/layout/orgChart1"/>
    <dgm:cxn modelId="{5C5D36FC-F2C1-468C-B287-E1E09C673A7A}" type="presOf" srcId="{020E5902-42A2-4A2F-B638-394DB5DD295F}" destId="{0E5CC913-7347-4A35-A8AE-0333F62DF521}" srcOrd="1" destOrd="0" presId="urn:microsoft.com/office/officeart/2005/8/layout/orgChart1"/>
    <dgm:cxn modelId="{268ED1CD-0FDD-4021-B332-91295643E56C}" type="presParOf" srcId="{C3EF82B0-FBED-4A6B-9797-C4C9FC111940}" destId="{30551A1A-40B2-4143-BAA8-E89E4A90206B}" srcOrd="0" destOrd="0" presId="urn:microsoft.com/office/officeart/2005/8/layout/orgChart1"/>
    <dgm:cxn modelId="{3DEB3860-5FB6-4456-9EAB-68E0EC6A6786}" type="presParOf" srcId="{30551A1A-40B2-4143-BAA8-E89E4A90206B}" destId="{FA4323D4-A661-4F68-B820-FFFDAF3F39D6}" srcOrd="0" destOrd="0" presId="urn:microsoft.com/office/officeart/2005/8/layout/orgChart1"/>
    <dgm:cxn modelId="{FF399934-F8F4-4CA1-88F1-AE6201B0B662}" type="presParOf" srcId="{FA4323D4-A661-4F68-B820-FFFDAF3F39D6}" destId="{738B9CDB-FC30-47C2-979F-E0B1165FD32D}" srcOrd="0" destOrd="0" presId="urn:microsoft.com/office/officeart/2005/8/layout/orgChart1"/>
    <dgm:cxn modelId="{2B18DB61-9FD6-41A3-8D17-2F6D62AEB20E}" type="presParOf" srcId="{FA4323D4-A661-4F68-B820-FFFDAF3F39D6}" destId="{F9120C7D-7727-4CC8-B6B7-80EFD359BB61}" srcOrd="1" destOrd="0" presId="urn:microsoft.com/office/officeart/2005/8/layout/orgChart1"/>
    <dgm:cxn modelId="{9B4DFEC6-700E-49DE-B898-D07B8F09B8AA}" type="presParOf" srcId="{30551A1A-40B2-4143-BAA8-E89E4A90206B}" destId="{A5979086-FABE-4CE7-9C4E-F24B44BCED09}" srcOrd="1" destOrd="0" presId="urn:microsoft.com/office/officeart/2005/8/layout/orgChart1"/>
    <dgm:cxn modelId="{7D48105F-8AA4-4A96-BC28-F149E0479FE9}" type="presParOf" srcId="{A5979086-FABE-4CE7-9C4E-F24B44BCED09}" destId="{98CB94CC-4AEF-4CCB-929D-D520D3019AAB}" srcOrd="0" destOrd="0" presId="urn:microsoft.com/office/officeart/2005/8/layout/orgChart1"/>
    <dgm:cxn modelId="{7386C2F8-01B7-4857-8DF6-A0A6452F22C0}" type="presParOf" srcId="{A5979086-FABE-4CE7-9C4E-F24B44BCED09}" destId="{80D94FFE-BF03-4B4C-AD57-4C83F891181C}" srcOrd="1" destOrd="0" presId="urn:microsoft.com/office/officeart/2005/8/layout/orgChart1"/>
    <dgm:cxn modelId="{8C086F57-0C99-4CB7-BC1C-A2262224B972}" type="presParOf" srcId="{80D94FFE-BF03-4B4C-AD57-4C83F891181C}" destId="{0D8927A0-D01D-4D55-ABE0-1D0FFE332CA8}" srcOrd="0" destOrd="0" presId="urn:microsoft.com/office/officeart/2005/8/layout/orgChart1"/>
    <dgm:cxn modelId="{033DB5CA-84FE-41E5-BFE8-F3A0E5E66BEB}" type="presParOf" srcId="{0D8927A0-D01D-4D55-ABE0-1D0FFE332CA8}" destId="{72A87A63-C150-46B1-B237-BDACB9D6233B}" srcOrd="0" destOrd="0" presId="urn:microsoft.com/office/officeart/2005/8/layout/orgChart1"/>
    <dgm:cxn modelId="{214816DB-2275-443F-BEAC-FE1F7C47941A}" type="presParOf" srcId="{0D8927A0-D01D-4D55-ABE0-1D0FFE332CA8}" destId="{0E5CC913-7347-4A35-A8AE-0333F62DF521}" srcOrd="1" destOrd="0" presId="urn:microsoft.com/office/officeart/2005/8/layout/orgChart1"/>
    <dgm:cxn modelId="{779FAE08-A9F1-4D91-A2AA-078CB242D886}" type="presParOf" srcId="{80D94FFE-BF03-4B4C-AD57-4C83F891181C}" destId="{A05AD95F-054F-4090-94D9-7AE4D14897CC}" srcOrd="1" destOrd="0" presId="urn:microsoft.com/office/officeart/2005/8/layout/orgChart1"/>
    <dgm:cxn modelId="{971FF3B9-0A1E-4D4E-9FD4-67187954F6E2}" type="presParOf" srcId="{80D94FFE-BF03-4B4C-AD57-4C83F891181C}" destId="{DA829619-A6FB-45DD-BC1B-DE81D36AD8E7}" srcOrd="2" destOrd="0" presId="urn:microsoft.com/office/officeart/2005/8/layout/orgChart1"/>
    <dgm:cxn modelId="{373DC9A5-4057-4BA6-AA04-7EAA4E495711}" type="presParOf" srcId="{A5979086-FABE-4CE7-9C4E-F24B44BCED09}" destId="{6F976AFA-A1AC-4C24-A716-6B9A20FF5CF1}" srcOrd="2" destOrd="0" presId="urn:microsoft.com/office/officeart/2005/8/layout/orgChart1"/>
    <dgm:cxn modelId="{6559358B-464A-4FEA-BB45-E80D78B56CFC}" type="presParOf" srcId="{A5979086-FABE-4CE7-9C4E-F24B44BCED09}" destId="{B648FCCC-C6F4-49AD-A465-CC94C19FBBC3}" srcOrd="3" destOrd="0" presId="urn:microsoft.com/office/officeart/2005/8/layout/orgChart1"/>
    <dgm:cxn modelId="{3AD9A901-1A72-4F46-B22C-A1F3CD7E9665}" type="presParOf" srcId="{B648FCCC-C6F4-49AD-A465-CC94C19FBBC3}" destId="{C42CB7CF-59FB-4B0A-B16B-2198BF43CA7E}" srcOrd="0" destOrd="0" presId="urn:microsoft.com/office/officeart/2005/8/layout/orgChart1"/>
    <dgm:cxn modelId="{E80A0C66-3591-4CF1-B4B8-61C40A3ADEEE}" type="presParOf" srcId="{C42CB7CF-59FB-4B0A-B16B-2198BF43CA7E}" destId="{8FF6A561-9ECA-49E3-9736-881BB83D8085}" srcOrd="0" destOrd="0" presId="urn:microsoft.com/office/officeart/2005/8/layout/orgChart1"/>
    <dgm:cxn modelId="{548FE399-81D2-4389-9E47-1AD3241DBDA0}" type="presParOf" srcId="{C42CB7CF-59FB-4B0A-B16B-2198BF43CA7E}" destId="{4D95DBDE-8915-426F-9C83-EAC8F814BACD}" srcOrd="1" destOrd="0" presId="urn:microsoft.com/office/officeart/2005/8/layout/orgChart1"/>
    <dgm:cxn modelId="{73EE1438-B453-4247-A7D1-C48B538F689C}" type="presParOf" srcId="{B648FCCC-C6F4-49AD-A465-CC94C19FBBC3}" destId="{E2E43EE2-F6B9-4C85-A3D3-7FECAEFAAF6B}" srcOrd="1" destOrd="0" presId="urn:microsoft.com/office/officeart/2005/8/layout/orgChart1"/>
    <dgm:cxn modelId="{E0425C4D-D60F-46C6-A0BE-71FCE18623BD}" type="presParOf" srcId="{B648FCCC-C6F4-49AD-A465-CC94C19FBBC3}" destId="{0FBA99A2-D431-45D0-B953-FA1E9DAB219F}" srcOrd="2" destOrd="0" presId="urn:microsoft.com/office/officeart/2005/8/layout/orgChart1"/>
    <dgm:cxn modelId="{6171D908-E648-4AB4-8E39-DBC5D66FB278}" type="presParOf" srcId="{A5979086-FABE-4CE7-9C4E-F24B44BCED09}" destId="{57D1B6AE-5ACC-4CFF-9489-2C40CD7F2D0F}" srcOrd="4" destOrd="0" presId="urn:microsoft.com/office/officeart/2005/8/layout/orgChart1"/>
    <dgm:cxn modelId="{C3033604-1781-4C01-BB82-3677B8B2BA51}" type="presParOf" srcId="{A5979086-FABE-4CE7-9C4E-F24B44BCED09}" destId="{15CD94F7-7070-438D-B2BC-A1047F83042B}" srcOrd="5" destOrd="0" presId="urn:microsoft.com/office/officeart/2005/8/layout/orgChart1"/>
    <dgm:cxn modelId="{9B9007BA-89BF-464B-927D-16FA878E550D}" type="presParOf" srcId="{15CD94F7-7070-438D-B2BC-A1047F83042B}" destId="{81D1907E-A38A-4519-9090-D11947FA8AA7}" srcOrd="0" destOrd="0" presId="urn:microsoft.com/office/officeart/2005/8/layout/orgChart1"/>
    <dgm:cxn modelId="{A8932C97-B750-45E7-B0B6-77B8A3E58E43}" type="presParOf" srcId="{81D1907E-A38A-4519-9090-D11947FA8AA7}" destId="{F1F5796C-55FE-415B-9061-F31E2A4178AC}" srcOrd="0" destOrd="0" presId="urn:microsoft.com/office/officeart/2005/8/layout/orgChart1"/>
    <dgm:cxn modelId="{70F1AF88-5AE6-4AA9-8F50-E2046C747560}" type="presParOf" srcId="{81D1907E-A38A-4519-9090-D11947FA8AA7}" destId="{198461D9-D578-4CB9-BF2A-918D4712368A}" srcOrd="1" destOrd="0" presId="urn:microsoft.com/office/officeart/2005/8/layout/orgChart1"/>
    <dgm:cxn modelId="{EB0F86B9-2256-48F6-99F2-74FD1EADE210}" type="presParOf" srcId="{15CD94F7-7070-438D-B2BC-A1047F83042B}" destId="{3D630BF5-7ED4-4B80-8D1F-E9020A88D1E0}" srcOrd="1" destOrd="0" presId="urn:microsoft.com/office/officeart/2005/8/layout/orgChart1"/>
    <dgm:cxn modelId="{566ADFAC-750A-4C6E-960E-27D85E9CEF86}" type="presParOf" srcId="{15CD94F7-7070-438D-B2BC-A1047F83042B}" destId="{73FD5B1F-F378-423E-A015-B0B2E1C2C3CE}" srcOrd="2" destOrd="0" presId="urn:microsoft.com/office/officeart/2005/8/layout/orgChart1"/>
    <dgm:cxn modelId="{8F2AA8ED-F463-43DD-9059-C27434C40FB8}" type="presParOf" srcId="{30551A1A-40B2-4143-BAA8-E89E4A90206B}" destId="{AD29F2BB-F13F-4E89-88A9-828B03FBE54E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EFB5B2-6041-4C59-A08A-A8672D8BB350}">
      <dsp:nvSpPr>
        <dsp:cNvPr id="0" name=""/>
        <dsp:cNvSpPr/>
      </dsp:nvSpPr>
      <dsp:spPr>
        <a:xfrm>
          <a:off x="355711" y="46"/>
          <a:ext cx="2135129" cy="12810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DATA SOURCE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SANTANDER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50,000 rows</a:t>
          </a:r>
          <a:endParaRPr lang="en-KE" sz="1800" kern="1200" dirty="0"/>
        </a:p>
      </dsp:txBody>
      <dsp:txXfrm>
        <a:off x="393232" y="37567"/>
        <a:ext cx="2060087" cy="1206035"/>
      </dsp:txXfrm>
    </dsp:sp>
    <dsp:sp modelId="{E31B3AF5-64B5-4F90-BB8F-F45638C8B2C1}">
      <dsp:nvSpPr>
        <dsp:cNvPr id="0" name=""/>
        <dsp:cNvSpPr/>
      </dsp:nvSpPr>
      <dsp:spPr>
        <a:xfrm>
          <a:off x="2678731" y="375829"/>
          <a:ext cx="452647" cy="52951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KE" sz="1500" kern="1200"/>
        </a:p>
      </dsp:txBody>
      <dsp:txXfrm>
        <a:off x="2678731" y="481731"/>
        <a:ext cx="316853" cy="317708"/>
      </dsp:txXfrm>
    </dsp:sp>
    <dsp:sp modelId="{A75520E9-6B62-4ED9-9894-74931403659E}">
      <dsp:nvSpPr>
        <dsp:cNvPr id="0" name=""/>
        <dsp:cNvSpPr/>
      </dsp:nvSpPr>
      <dsp:spPr>
        <a:xfrm>
          <a:off x="3344891" y="46"/>
          <a:ext cx="2135129" cy="12810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PREPROCESSING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Pyspark</a:t>
          </a:r>
          <a:endParaRPr lang="en-US" sz="1800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Clean, rename</a:t>
          </a:r>
          <a:endParaRPr lang="en-KE" sz="1800" kern="1200" dirty="0"/>
        </a:p>
      </dsp:txBody>
      <dsp:txXfrm>
        <a:off x="3382412" y="37567"/>
        <a:ext cx="2060087" cy="1206035"/>
      </dsp:txXfrm>
    </dsp:sp>
    <dsp:sp modelId="{21B9A2A7-089F-4818-A814-5ACA1DAB3617}">
      <dsp:nvSpPr>
        <dsp:cNvPr id="0" name=""/>
        <dsp:cNvSpPr/>
      </dsp:nvSpPr>
      <dsp:spPr>
        <a:xfrm>
          <a:off x="5667912" y="375829"/>
          <a:ext cx="452647" cy="52951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KE" sz="1500" kern="1200"/>
        </a:p>
      </dsp:txBody>
      <dsp:txXfrm>
        <a:off x="5667912" y="481731"/>
        <a:ext cx="316853" cy="317708"/>
      </dsp:txXfrm>
    </dsp:sp>
    <dsp:sp modelId="{11453D57-14CB-4959-90FD-8C99B42D4153}">
      <dsp:nvSpPr>
        <dsp:cNvPr id="0" name=""/>
        <dsp:cNvSpPr/>
      </dsp:nvSpPr>
      <dsp:spPr>
        <a:xfrm>
          <a:off x="6334072" y="46"/>
          <a:ext cx="2135129" cy="12810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FEDERATED SPLIT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3 AGE GROUPS</a:t>
          </a:r>
          <a:endParaRPr lang="en-KE" sz="1800" kern="1200" dirty="0"/>
        </a:p>
      </dsp:txBody>
      <dsp:txXfrm>
        <a:off x="6371593" y="37567"/>
        <a:ext cx="2060087" cy="1206035"/>
      </dsp:txXfrm>
    </dsp:sp>
    <dsp:sp modelId="{62508D21-306F-4E7B-ABAB-895D963B8751}">
      <dsp:nvSpPr>
        <dsp:cNvPr id="0" name=""/>
        <dsp:cNvSpPr/>
      </dsp:nvSpPr>
      <dsp:spPr>
        <a:xfrm rot="5400000">
          <a:off x="7175313" y="1430583"/>
          <a:ext cx="452647" cy="52951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KE" sz="1500" kern="1200"/>
        </a:p>
      </dsp:txBody>
      <dsp:txXfrm rot="-5400000">
        <a:off x="7242783" y="1469015"/>
        <a:ext cx="317708" cy="316853"/>
      </dsp:txXfrm>
    </dsp:sp>
    <dsp:sp modelId="{EE5BCAB9-06BE-486F-8219-3CBCB5A13E1F}">
      <dsp:nvSpPr>
        <dsp:cNvPr id="0" name=""/>
        <dsp:cNvSpPr/>
      </dsp:nvSpPr>
      <dsp:spPr>
        <a:xfrm>
          <a:off x="6334072" y="2135175"/>
          <a:ext cx="2135129" cy="12810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Federated learning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Flower + </a:t>
          </a:r>
          <a:r>
            <a:rPr lang="en-US" sz="1800" kern="1200" dirty="0" err="1"/>
            <a:t>FedAvg</a:t>
          </a:r>
          <a:endParaRPr lang="en-KE" sz="1800" kern="1200" dirty="0"/>
        </a:p>
      </dsp:txBody>
      <dsp:txXfrm>
        <a:off x="6371593" y="2172696"/>
        <a:ext cx="2060087" cy="1206035"/>
      </dsp:txXfrm>
    </dsp:sp>
    <dsp:sp modelId="{392CD05B-7E04-40D8-8270-86D03513168E}">
      <dsp:nvSpPr>
        <dsp:cNvPr id="0" name=""/>
        <dsp:cNvSpPr/>
      </dsp:nvSpPr>
      <dsp:spPr>
        <a:xfrm rot="10800000">
          <a:off x="5693533" y="2510958"/>
          <a:ext cx="452647" cy="52951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KE" sz="1500" kern="1200"/>
        </a:p>
      </dsp:txBody>
      <dsp:txXfrm rot="10800000">
        <a:off x="5829327" y="2616860"/>
        <a:ext cx="316853" cy="317708"/>
      </dsp:txXfrm>
    </dsp:sp>
    <dsp:sp modelId="{C4B3B72C-BEEC-4D78-BFA1-24293EC53921}">
      <dsp:nvSpPr>
        <dsp:cNvPr id="0" name=""/>
        <dsp:cNvSpPr/>
      </dsp:nvSpPr>
      <dsp:spPr>
        <a:xfrm>
          <a:off x="3344891" y="2135175"/>
          <a:ext cx="2135129" cy="12810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MODEL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OneVsRest</a:t>
          </a:r>
          <a:r>
            <a:rPr lang="en-US" sz="1800" kern="1200" dirty="0"/>
            <a:t> LR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F!: 0.9489</a:t>
          </a:r>
          <a:endParaRPr lang="en-KE" sz="1800" kern="1200" dirty="0"/>
        </a:p>
      </dsp:txBody>
      <dsp:txXfrm>
        <a:off x="3382412" y="2172696"/>
        <a:ext cx="2060087" cy="1206035"/>
      </dsp:txXfrm>
    </dsp:sp>
    <dsp:sp modelId="{32C332E2-8E7D-47F5-8205-ED78C767F6AF}">
      <dsp:nvSpPr>
        <dsp:cNvPr id="0" name=""/>
        <dsp:cNvSpPr/>
      </dsp:nvSpPr>
      <dsp:spPr>
        <a:xfrm rot="10800000">
          <a:off x="2704353" y="2510958"/>
          <a:ext cx="452647" cy="52951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KE" sz="1500" kern="1200"/>
        </a:p>
      </dsp:txBody>
      <dsp:txXfrm rot="10800000">
        <a:off x="2840147" y="2616860"/>
        <a:ext cx="316853" cy="317708"/>
      </dsp:txXfrm>
    </dsp:sp>
    <dsp:sp modelId="{9AB05269-7C68-450E-A373-0F125E57B956}">
      <dsp:nvSpPr>
        <dsp:cNvPr id="0" name=""/>
        <dsp:cNvSpPr/>
      </dsp:nvSpPr>
      <dsp:spPr>
        <a:xfrm>
          <a:off x="355711" y="2135175"/>
          <a:ext cx="2135129" cy="12810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Deployment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Gradio</a:t>
          </a:r>
          <a:r>
            <a:rPr lang="en-US" sz="1800" kern="1200" dirty="0"/>
            <a:t> UI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Live demo</a:t>
          </a:r>
          <a:endParaRPr lang="en-KE" sz="1800" kern="1200" dirty="0"/>
        </a:p>
      </dsp:txBody>
      <dsp:txXfrm>
        <a:off x="393232" y="2172696"/>
        <a:ext cx="2060087" cy="12060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D1B6AE-5ACC-4CFF-9489-2C40CD7F2D0F}">
      <dsp:nvSpPr>
        <dsp:cNvPr id="0" name=""/>
        <dsp:cNvSpPr/>
      </dsp:nvSpPr>
      <dsp:spPr>
        <a:xfrm>
          <a:off x="5448693" y="1406769"/>
          <a:ext cx="4008394" cy="5901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5065"/>
              </a:lnTo>
              <a:lnTo>
                <a:pt x="4008394" y="295065"/>
              </a:lnTo>
              <a:lnTo>
                <a:pt x="4008394" y="590130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976AFA-A1AC-4C24-A716-6B9A20FF5CF1}">
      <dsp:nvSpPr>
        <dsp:cNvPr id="0" name=""/>
        <dsp:cNvSpPr/>
      </dsp:nvSpPr>
      <dsp:spPr>
        <a:xfrm>
          <a:off x="5448693" y="1406769"/>
          <a:ext cx="330684" cy="5901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5065"/>
              </a:lnTo>
              <a:lnTo>
                <a:pt x="330684" y="295065"/>
              </a:lnTo>
              <a:lnTo>
                <a:pt x="330684" y="590130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CB94CC-4AEF-4CCB-929D-D520D3019AAB}">
      <dsp:nvSpPr>
        <dsp:cNvPr id="0" name=""/>
        <dsp:cNvSpPr/>
      </dsp:nvSpPr>
      <dsp:spPr>
        <a:xfrm>
          <a:off x="1770982" y="1406769"/>
          <a:ext cx="3677710" cy="590130"/>
        </a:xfrm>
        <a:custGeom>
          <a:avLst/>
          <a:gdLst/>
          <a:ahLst/>
          <a:cxnLst/>
          <a:rect l="0" t="0" r="0" b="0"/>
          <a:pathLst>
            <a:path>
              <a:moveTo>
                <a:pt x="3677710" y="0"/>
              </a:moveTo>
              <a:lnTo>
                <a:pt x="3677710" y="295065"/>
              </a:lnTo>
              <a:lnTo>
                <a:pt x="0" y="295065"/>
              </a:lnTo>
              <a:lnTo>
                <a:pt x="0" y="590130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8B9CDB-FC30-47C2-979F-E0B1165FD32D}">
      <dsp:nvSpPr>
        <dsp:cNvPr id="0" name=""/>
        <dsp:cNvSpPr/>
      </dsp:nvSpPr>
      <dsp:spPr>
        <a:xfrm>
          <a:off x="2140826" y="1695"/>
          <a:ext cx="6615733" cy="14050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CENTRAL SERVER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Aggregates weights (</a:t>
          </a:r>
          <a:r>
            <a:rPr lang="en-US" sz="2000" kern="1200" dirty="0" err="1"/>
            <a:t>FedAvg</a:t>
          </a:r>
          <a:r>
            <a:rPr lang="en-US" sz="2000" kern="1200" dirty="0"/>
            <a:t>)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Sends </a:t>
          </a:r>
          <a:r>
            <a:rPr lang="en-US" sz="2000" kern="1200" dirty="0" err="1"/>
            <a:t>gobal</a:t>
          </a:r>
          <a:r>
            <a:rPr lang="en-US" sz="2000" kern="1200" dirty="0"/>
            <a:t> model back</a:t>
          </a:r>
          <a:endParaRPr lang="en-KE" sz="2000" kern="1200" dirty="0"/>
        </a:p>
      </dsp:txBody>
      <dsp:txXfrm>
        <a:off x="2140826" y="1695"/>
        <a:ext cx="6615733" cy="1405073"/>
      </dsp:txXfrm>
    </dsp:sp>
    <dsp:sp modelId="{72A87A63-C150-46B1-B237-BDACB9D6233B}">
      <dsp:nvSpPr>
        <dsp:cNvPr id="0" name=""/>
        <dsp:cNvSpPr/>
      </dsp:nvSpPr>
      <dsp:spPr>
        <a:xfrm>
          <a:off x="35224" y="1996900"/>
          <a:ext cx="3471515" cy="18320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Client 1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Age </a:t>
          </a:r>
          <a:r>
            <a:rPr lang="en-US" sz="1200" kern="1200" dirty="0" err="1"/>
            <a:t>Age</a:t>
          </a:r>
          <a:r>
            <a:rPr lang="en-US" sz="1200" kern="1200" dirty="0"/>
            <a:t> ≤ 30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30, 396 </a:t>
          </a:r>
          <a:r>
            <a:rPr lang="en-US" sz="1200" kern="1200" dirty="0" err="1"/>
            <a:t>cust</a:t>
          </a:r>
          <a:endParaRPr lang="en-US" sz="1200" kern="1200" dirty="0"/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Train locally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Send weights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(No raw data</a:t>
          </a:r>
          <a:r>
            <a:rPr lang="en-US" sz="1050" kern="1200" dirty="0"/>
            <a:t>)</a:t>
          </a:r>
          <a:endParaRPr lang="en-KE" sz="1050" kern="1200" dirty="0"/>
        </a:p>
      </dsp:txBody>
      <dsp:txXfrm>
        <a:off x="35224" y="1996900"/>
        <a:ext cx="3471515" cy="1832019"/>
      </dsp:txXfrm>
    </dsp:sp>
    <dsp:sp modelId="{8FF6A561-9ECA-49E3-9736-881BB83D8085}">
      <dsp:nvSpPr>
        <dsp:cNvPr id="0" name=""/>
        <dsp:cNvSpPr/>
      </dsp:nvSpPr>
      <dsp:spPr>
        <a:xfrm>
          <a:off x="4096871" y="1996900"/>
          <a:ext cx="3365011" cy="18530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Client 2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Age 31-50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7,147 </a:t>
          </a:r>
          <a:r>
            <a:rPr lang="en-US" sz="1200" kern="1200" dirty="0" err="1"/>
            <a:t>cust</a:t>
          </a:r>
          <a:endParaRPr lang="en-US" sz="1200" kern="1200" dirty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Train locally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Send weights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(No raw data)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KE" sz="1600" kern="1200" dirty="0"/>
        </a:p>
      </dsp:txBody>
      <dsp:txXfrm>
        <a:off x="4096871" y="1996900"/>
        <a:ext cx="3365011" cy="1853039"/>
      </dsp:txXfrm>
    </dsp:sp>
    <dsp:sp modelId="{F1F5796C-55FE-415B-9061-F31E2A4178AC}">
      <dsp:nvSpPr>
        <dsp:cNvPr id="0" name=""/>
        <dsp:cNvSpPr/>
      </dsp:nvSpPr>
      <dsp:spPr>
        <a:xfrm>
          <a:off x="8052013" y="1996900"/>
          <a:ext cx="2810147" cy="18514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Client 3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Age &gt; 50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2,181 </a:t>
          </a:r>
          <a:r>
            <a:rPr lang="en-US" sz="1200" kern="1200" dirty="0" err="1"/>
            <a:t>cust</a:t>
          </a:r>
          <a:endParaRPr lang="en-US" sz="1200" kern="1200" dirty="0"/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Train locally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Send weights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(No raw data</a:t>
          </a:r>
          <a:r>
            <a:rPr lang="en-US" sz="1600" kern="1200" dirty="0"/>
            <a:t>)</a:t>
          </a:r>
          <a:endParaRPr lang="en-KE" sz="1600" kern="1200" dirty="0"/>
        </a:p>
      </dsp:txBody>
      <dsp:txXfrm>
        <a:off x="8052013" y="1996900"/>
        <a:ext cx="2810147" cy="18514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0389BA91-0F71-4792-8032-845A4969263A}" type="datetimeFigureOut">
              <a:rPr lang="en-KE" smtClean="0"/>
              <a:t>24/03/2026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KE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EAEDFEC3-5852-4870-8FB9-A5E4D5B05C0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23624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9BA91-0F71-4792-8032-845A4969263A}" type="datetimeFigureOut">
              <a:rPr lang="en-KE" smtClean="0"/>
              <a:t>24/03/2026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FEC3-5852-4870-8FB9-A5E4D5B05C0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622119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9BA91-0F71-4792-8032-845A4969263A}" type="datetimeFigureOut">
              <a:rPr lang="en-KE" smtClean="0"/>
              <a:t>24/03/2026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FEC3-5852-4870-8FB9-A5E4D5B05C0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659179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9BA91-0F71-4792-8032-845A4969263A}" type="datetimeFigureOut">
              <a:rPr lang="en-KE" smtClean="0"/>
              <a:t>24/03/2026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FEC3-5852-4870-8FB9-A5E4D5B05C0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34989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9BA91-0F71-4792-8032-845A4969263A}" type="datetimeFigureOut">
              <a:rPr lang="en-KE" smtClean="0"/>
              <a:t>24/03/2026</a:t>
            </a:fld>
            <a:endParaRPr lang="en-K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FEC3-5852-4870-8FB9-A5E4D5B05C0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493563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9BA91-0F71-4792-8032-845A4969263A}" type="datetimeFigureOut">
              <a:rPr lang="en-KE" smtClean="0"/>
              <a:t>24/03/2026</a:t>
            </a:fld>
            <a:endParaRPr lang="en-K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FEC3-5852-4870-8FB9-A5E4D5B05C0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788686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9BA91-0F71-4792-8032-845A4969263A}" type="datetimeFigureOut">
              <a:rPr lang="en-KE" smtClean="0"/>
              <a:t>24/03/2026</a:t>
            </a:fld>
            <a:endParaRPr lang="en-K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FEC3-5852-4870-8FB9-A5E4D5B05C0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600309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9BA91-0F71-4792-8032-845A4969263A}" type="datetimeFigureOut">
              <a:rPr lang="en-KE" smtClean="0"/>
              <a:t>24/03/2026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FEC3-5852-4870-8FB9-A5E4D5B05C0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634295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9BA91-0F71-4792-8032-845A4969263A}" type="datetimeFigureOut">
              <a:rPr lang="en-KE" smtClean="0"/>
              <a:t>24/03/2026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FEC3-5852-4870-8FB9-A5E4D5B05C0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074862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9BA91-0F71-4792-8032-845A4969263A}" type="datetimeFigureOut">
              <a:rPr lang="en-KE" smtClean="0"/>
              <a:t>24/03/2026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FEC3-5852-4870-8FB9-A5E4D5B05C0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1705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9BA91-0F71-4792-8032-845A4969263A}" type="datetimeFigureOut">
              <a:rPr lang="en-KE" smtClean="0"/>
              <a:t>24/03/2026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FEC3-5852-4870-8FB9-A5E4D5B05C0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8845268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9BA91-0F71-4792-8032-845A4969263A}" type="datetimeFigureOut">
              <a:rPr lang="en-KE" smtClean="0"/>
              <a:t>24/03/2026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FEC3-5852-4870-8FB9-A5E4D5B05C0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8120534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9BA91-0F71-4792-8032-845A4969263A}" type="datetimeFigureOut">
              <a:rPr lang="en-KE" smtClean="0"/>
              <a:t>24/03/2026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FEC3-5852-4870-8FB9-A5E4D5B05C0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3996361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9BA91-0F71-4792-8032-845A4969263A}" type="datetimeFigureOut">
              <a:rPr lang="en-KE" smtClean="0"/>
              <a:t>24/03/2026</a:t>
            </a:fld>
            <a:endParaRPr lang="en-K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FEC3-5852-4870-8FB9-A5E4D5B05C0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8896406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9BA91-0F71-4792-8032-845A4969263A}" type="datetimeFigureOut">
              <a:rPr lang="en-KE" smtClean="0"/>
              <a:t>24/03/2026</a:t>
            </a:fld>
            <a:endParaRPr lang="en-K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K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FEC3-5852-4870-8FB9-A5E4D5B05C0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5276303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0389BA91-0F71-4792-8032-845A4969263A}" type="datetimeFigureOut">
              <a:rPr lang="en-KE" smtClean="0"/>
              <a:t>24/03/2026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FEC3-5852-4870-8FB9-A5E4D5B05C0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2324051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0389BA91-0F71-4792-8032-845A4969263A}" type="datetimeFigureOut">
              <a:rPr lang="en-KE" smtClean="0"/>
              <a:t>24/03/2026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FEC3-5852-4870-8FB9-A5E4D5B05C0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962792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0389BA91-0F71-4792-8032-845A4969263A}" type="datetimeFigureOut">
              <a:rPr lang="en-KE" smtClean="0"/>
              <a:t>24/03/2026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KE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EAEDFEC3-5852-4870-8FB9-A5E4D5B05C0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489165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A7280-C536-4793-A8FB-E2B48FBF4D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RECOMMENDER SYSTEM FOR PERSONALIZED FINANCIAL ADVICE: A CASE STUDY OF SANTANDER BANK DATA</a:t>
            </a:r>
            <a:br>
              <a:rPr lang="en-K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K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92237E-E414-40E5-92FA-844B88658A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 </a:t>
            </a:r>
            <a:r>
              <a:rPr lang="en-US" dirty="0" err="1"/>
              <a:t>collins</a:t>
            </a:r>
            <a:r>
              <a:rPr lang="en-US" dirty="0"/>
              <a:t> Oyaro and </a:t>
            </a:r>
            <a:r>
              <a:rPr lang="en-US" dirty="0" err="1"/>
              <a:t>diana</a:t>
            </a:r>
            <a:r>
              <a:rPr lang="en-US" dirty="0"/>
              <a:t> </a:t>
            </a:r>
            <a:r>
              <a:rPr lang="en-US" dirty="0" err="1"/>
              <a:t>olulo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895571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4BD2E-4263-4F2C-A62F-0492B6A3E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 Outline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50537-FD67-4F87-B76F-547E63CD6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Problem statement and Business Context</a:t>
            </a:r>
          </a:p>
          <a:p>
            <a:r>
              <a:rPr lang="en-US" dirty="0"/>
              <a:t>2. Research objectives and Questions</a:t>
            </a:r>
          </a:p>
          <a:p>
            <a:r>
              <a:rPr lang="en-US" dirty="0"/>
              <a:t>3. Methodology Overview</a:t>
            </a:r>
          </a:p>
          <a:p>
            <a:r>
              <a:rPr lang="en-US" dirty="0"/>
              <a:t>4. Federated Learning Architecture</a:t>
            </a:r>
          </a:p>
          <a:p>
            <a:r>
              <a:rPr lang="en-US" dirty="0"/>
              <a:t>5. Key Results</a:t>
            </a:r>
          </a:p>
          <a:p>
            <a:r>
              <a:rPr lang="en-US" dirty="0"/>
              <a:t>6. Discussion &amp; Implications</a:t>
            </a:r>
          </a:p>
          <a:p>
            <a:r>
              <a:rPr lang="en-US" dirty="0"/>
              <a:t>7. Conclusions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267449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69526-6100-403C-B65D-1A904517F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Challenge: Personalization vs. Privacy</a:t>
            </a:r>
            <a:br>
              <a:rPr lang="en-US" dirty="0"/>
            </a:br>
            <a:endParaRPr lang="en-KE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6D8EF61-CAE9-4BD0-A5AF-147BA8A56C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6863646"/>
              </p:ext>
            </p:extLst>
          </p:nvPr>
        </p:nvGraphicFramePr>
        <p:xfrm>
          <a:off x="1155700" y="2603500"/>
          <a:ext cx="8824912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2456">
                  <a:extLst>
                    <a:ext uri="{9D8B030D-6E8A-4147-A177-3AD203B41FA5}">
                      <a16:colId xmlns:a16="http://schemas.microsoft.com/office/drawing/2014/main" val="2037409819"/>
                    </a:ext>
                  </a:extLst>
                </a:gridCol>
                <a:gridCol w="4412456">
                  <a:extLst>
                    <a:ext uri="{9D8B030D-6E8A-4147-A177-3AD203B41FA5}">
                      <a16:colId xmlns:a16="http://schemas.microsoft.com/office/drawing/2014/main" val="12836455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Problem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Impact</a:t>
                      </a:r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141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Banks hold sensitive customer data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 regulatory risk (GDPR, CCPA)</a:t>
                      </a:r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2955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Traditional recommendation systems require data centralization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Privacy violations, security concerns</a:t>
                      </a:r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5496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Customers expect personalized advice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Must balance personalization with privacy</a:t>
                      </a:r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1916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Manual advisory services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Costly, inconsistent, not scalable</a:t>
                      </a:r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61338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E98DE7E-3EFC-4673-B370-400D8CB32A02}"/>
              </a:ext>
            </a:extLst>
          </p:cNvPr>
          <p:cNvSpPr txBox="1"/>
          <p:nvPr/>
        </p:nvSpPr>
        <p:spPr>
          <a:xfrm>
            <a:off x="1404257" y="5421086"/>
            <a:ext cx="1028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Key Question:  How can banks recommend the right financial products without accessing raw customer data?</a:t>
            </a:r>
            <a:endParaRPr lang="en-KE" sz="2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315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C980F-EFCE-4F3C-908F-9E9C04E00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Objectives</a:t>
            </a:r>
            <a:endParaRPr lang="en-KE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26693AE0-FB37-45A6-9CB3-739DE8008A4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51893689"/>
              </p:ext>
            </p:extLst>
          </p:nvPr>
        </p:nvGraphicFramePr>
        <p:xfrm>
          <a:off x="1155700" y="2603500"/>
          <a:ext cx="4824412" cy="320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2206">
                  <a:extLst>
                    <a:ext uri="{9D8B030D-6E8A-4147-A177-3AD203B41FA5}">
                      <a16:colId xmlns:a16="http://schemas.microsoft.com/office/drawing/2014/main" val="843645146"/>
                    </a:ext>
                  </a:extLst>
                </a:gridCol>
                <a:gridCol w="2412206">
                  <a:extLst>
                    <a:ext uri="{9D8B030D-6E8A-4147-A177-3AD203B41FA5}">
                      <a16:colId xmlns:a16="http://schemas.microsoft.com/office/drawing/2014/main" val="19184293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Objective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</a:t>
                      </a:r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385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Build personalized recommendation system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Predict 24 financial products</a:t>
                      </a:r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245827"/>
                  </a:ext>
                </a:extLst>
              </a:tr>
              <a:tr h="593634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Protect customer privacy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Federated Learning approach</a:t>
                      </a:r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8437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Achieve high accuracy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F1 Score &gt; 0.70</a:t>
                      </a:r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6264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Deploy working interface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User-friendly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Gradio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app</a:t>
                      </a:r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629259"/>
                  </a:ext>
                </a:extLst>
              </a:tr>
            </a:tbl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69E222-B5CE-48D0-B3C5-CC7487428A2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Six Research Questions:</a:t>
            </a:r>
          </a:p>
          <a:p>
            <a:pPr>
              <a:buFont typeface="+mj-lt"/>
              <a:buAutoNum type="arabicPeriod"/>
            </a:pPr>
            <a:r>
              <a:rPr lang="en-US" dirty="0"/>
              <a:t>Most common products</a:t>
            </a:r>
          </a:p>
          <a:p>
            <a:pPr>
              <a:buFont typeface="+mj-lt"/>
              <a:buAutoNum type="arabicPeriod"/>
            </a:pPr>
            <a:r>
              <a:rPr lang="en-US" dirty="0"/>
              <a:t>Age vs. Product ownership?</a:t>
            </a:r>
          </a:p>
          <a:p>
            <a:pPr>
              <a:buFont typeface="+mj-lt"/>
              <a:buAutoNum type="arabicPeriod"/>
            </a:pPr>
            <a:r>
              <a:rPr lang="en-US" dirty="0"/>
              <a:t>Income as predictor?</a:t>
            </a:r>
          </a:p>
          <a:p>
            <a:pPr>
              <a:buFont typeface="+mj-lt"/>
              <a:buAutoNum type="arabicPeriod"/>
            </a:pPr>
            <a:r>
              <a:rPr lang="en-US" dirty="0"/>
              <a:t>Best cross-sell segments?</a:t>
            </a:r>
          </a:p>
          <a:p>
            <a:pPr>
              <a:buFont typeface="+mj-lt"/>
              <a:buAutoNum type="arabicPeriod"/>
            </a:pPr>
            <a:r>
              <a:rPr lang="en-US" dirty="0"/>
              <a:t>FL model accuracy?</a:t>
            </a:r>
          </a:p>
          <a:p>
            <a:pPr>
              <a:buFont typeface="+mj-lt"/>
              <a:buAutoNum type="arabicPeriod"/>
            </a:pPr>
            <a:r>
              <a:rPr lang="en-US" dirty="0"/>
              <a:t>Client performance comparison?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692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60F8B-6A9A-4F4F-893E-AD087A304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Overview</a:t>
            </a:r>
            <a:endParaRPr lang="en-KE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7D7D4C2-054B-4005-9A26-2282783A3E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7163140"/>
              </p:ext>
            </p:extLst>
          </p:nvPr>
        </p:nvGraphicFramePr>
        <p:xfrm>
          <a:off x="1155700" y="2603500"/>
          <a:ext cx="882491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07864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9008E-6DCA-4487-9F6F-A6DD9B616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Federated Learning Architecture</a:t>
            </a:r>
            <a:endParaRPr lang="en-KE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A6F40A6-4DB1-4022-BC09-CA2DED4CD4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9295513"/>
              </p:ext>
            </p:extLst>
          </p:nvPr>
        </p:nvGraphicFramePr>
        <p:xfrm>
          <a:off x="707010" y="2168165"/>
          <a:ext cx="10897386" cy="38516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3B97E43-F702-42BD-975D-1978A7687B61}"/>
              </a:ext>
            </a:extLst>
          </p:cNvPr>
          <p:cNvSpPr txBox="1"/>
          <p:nvPr/>
        </p:nvSpPr>
        <p:spPr>
          <a:xfrm>
            <a:off x="881743" y="6351814"/>
            <a:ext cx="11054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Key Principle: Raw customer data NEVER leaves local </a:t>
            </a:r>
            <a:r>
              <a:rPr lang="en-US" dirty="0" err="1">
                <a:solidFill>
                  <a:schemeClr val="accent1"/>
                </a:solidFill>
              </a:rPr>
              <a:t>clents</a:t>
            </a:r>
            <a:endParaRPr lang="en-KE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0352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35A01-4B45-4292-9E86-279811427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 </a:t>
            </a:r>
            <a:r>
              <a:rPr lang="en-US" dirty="0" err="1"/>
              <a:t>Inisghts</a:t>
            </a:r>
            <a:br>
              <a:rPr lang="en-US" dirty="0"/>
            </a:br>
            <a:r>
              <a:rPr lang="en-US" sz="2400" dirty="0"/>
              <a:t>Key Findings from 50,000 Customers</a:t>
            </a:r>
            <a:endParaRPr lang="en-KE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B0D6BE6-6F3C-4ED8-9D55-1ED1EDA70D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8930973"/>
              </p:ext>
            </p:extLst>
          </p:nvPr>
        </p:nvGraphicFramePr>
        <p:xfrm>
          <a:off x="963385" y="2498270"/>
          <a:ext cx="10107386" cy="3537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53693">
                  <a:extLst>
                    <a:ext uri="{9D8B030D-6E8A-4147-A177-3AD203B41FA5}">
                      <a16:colId xmlns:a16="http://schemas.microsoft.com/office/drawing/2014/main" val="3206577583"/>
                    </a:ext>
                  </a:extLst>
                </a:gridCol>
                <a:gridCol w="5053693">
                  <a:extLst>
                    <a:ext uri="{9D8B030D-6E8A-4147-A177-3AD203B41FA5}">
                      <a16:colId xmlns:a16="http://schemas.microsoft.com/office/drawing/2014/main" val="2151635504"/>
                    </a:ext>
                  </a:extLst>
                </a:gridCol>
              </a:tblGrid>
              <a:tr h="564344">
                <a:tc>
                  <a:txBody>
                    <a:bodyPr/>
                    <a:lstStyle/>
                    <a:p>
                      <a:r>
                        <a:rPr lang="en-US" dirty="0"/>
                        <a:t>Finding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Insight</a:t>
                      </a:r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5262727"/>
                  </a:ext>
                </a:extLst>
              </a:tr>
              <a:tr h="564344">
                <a:tc>
                  <a:txBody>
                    <a:bodyPr/>
                    <a:lstStyle/>
                    <a:p>
                      <a:r>
                        <a:rPr lang="en-US" dirty="0"/>
                        <a:t>Current accounts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45,000 customers → Universal product</a:t>
                      </a:r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0559625"/>
                  </a:ext>
                </a:extLst>
              </a:tr>
              <a:tr h="564344">
                <a:tc>
                  <a:txBody>
                    <a:bodyPr/>
                    <a:lstStyle/>
                    <a:p>
                      <a:r>
                        <a:rPr lang="en-US" dirty="0"/>
                        <a:t>Age distribution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Peak 20-30 years → Young customer base</a:t>
                      </a:r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2048312"/>
                  </a:ext>
                </a:extLst>
              </a:tr>
              <a:tr h="564344">
                <a:tc>
                  <a:txBody>
                    <a:bodyPr/>
                    <a:lstStyle/>
                    <a:p>
                      <a:r>
                        <a:rPr lang="en-US" dirty="0"/>
                        <a:t>Customer segments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78% University students → Largest cross-sell opportunity</a:t>
                      </a:r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043465"/>
                  </a:ext>
                </a:extLst>
              </a:tr>
              <a:tr h="564344">
                <a:tc>
                  <a:txBody>
                    <a:bodyPr/>
                    <a:lstStyle/>
                    <a:p>
                      <a:r>
                        <a:rPr lang="en-US" dirty="0"/>
                        <a:t>Active customers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Only 40.3% active → 59.7% inactive</a:t>
                      </a:r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8268645"/>
                  </a:ext>
                </a:extLst>
              </a:tr>
              <a:tr h="564344">
                <a:tc>
                  <a:txBody>
                    <a:bodyPr/>
                    <a:lstStyle/>
                    <a:p>
                      <a:r>
                        <a:rPr lang="en-US" dirty="0"/>
                        <a:t>Product correlations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Pension &amp; Payroll: 0.96 → Strong bundle opportunity</a:t>
                      </a:r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5430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709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08BC1-31E3-41D2-A82C-F4DA82C56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Ownership by Age Group</a:t>
            </a:r>
            <a:endParaRPr lang="en-KE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DD308E6-7B19-448A-8796-49EC43EA30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0909623"/>
              </p:ext>
            </p:extLst>
          </p:nvPr>
        </p:nvGraphicFramePr>
        <p:xfrm>
          <a:off x="1155700" y="2603499"/>
          <a:ext cx="9817098" cy="3029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6183">
                  <a:extLst>
                    <a:ext uri="{9D8B030D-6E8A-4147-A177-3AD203B41FA5}">
                      <a16:colId xmlns:a16="http://schemas.microsoft.com/office/drawing/2014/main" val="1950422796"/>
                    </a:ext>
                  </a:extLst>
                </a:gridCol>
                <a:gridCol w="1636183">
                  <a:extLst>
                    <a:ext uri="{9D8B030D-6E8A-4147-A177-3AD203B41FA5}">
                      <a16:colId xmlns:a16="http://schemas.microsoft.com/office/drawing/2014/main" val="1992143821"/>
                    </a:ext>
                  </a:extLst>
                </a:gridCol>
                <a:gridCol w="1636183">
                  <a:extLst>
                    <a:ext uri="{9D8B030D-6E8A-4147-A177-3AD203B41FA5}">
                      <a16:colId xmlns:a16="http://schemas.microsoft.com/office/drawing/2014/main" val="3183859323"/>
                    </a:ext>
                  </a:extLst>
                </a:gridCol>
                <a:gridCol w="1636183">
                  <a:extLst>
                    <a:ext uri="{9D8B030D-6E8A-4147-A177-3AD203B41FA5}">
                      <a16:colId xmlns:a16="http://schemas.microsoft.com/office/drawing/2014/main" val="1814695190"/>
                    </a:ext>
                  </a:extLst>
                </a:gridCol>
                <a:gridCol w="1636183">
                  <a:extLst>
                    <a:ext uri="{9D8B030D-6E8A-4147-A177-3AD203B41FA5}">
                      <a16:colId xmlns:a16="http://schemas.microsoft.com/office/drawing/2014/main" val="1956192971"/>
                    </a:ext>
                  </a:extLst>
                </a:gridCol>
                <a:gridCol w="1636183">
                  <a:extLst>
                    <a:ext uri="{9D8B030D-6E8A-4147-A177-3AD203B41FA5}">
                      <a16:colId xmlns:a16="http://schemas.microsoft.com/office/drawing/2014/main" val="2601033201"/>
                    </a:ext>
                  </a:extLst>
                </a:gridCol>
              </a:tblGrid>
              <a:tr h="757464">
                <a:tc>
                  <a:txBody>
                    <a:bodyPr/>
                    <a:lstStyle/>
                    <a:p>
                      <a:r>
                        <a:rPr lang="en-US" dirty="0"/>
                        <a:t>Product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18-25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26-35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36-45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46-65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56-65</a:t>
                      </a:r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6047478"/>
                  </a:ext>
                </a:extLst>
              </a:tr>
              <a:tr h="757464">
                <a:tc>
                  <a:txBody>
                    <a:bodyPr/>
                    <a:lstStyle/>
                    <a:p>
                      <a:r>
                        <a:rPr lang="en-US" dirty="0"/>
                        <a:t>Current Account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98%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95%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92%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88%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85%</a:t>
                      </a:r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614167"/>
                  </a:ext>
                </a:extLst>
              </a:tr>
              <a:tr h="757464">
                <a:tc>
                  <a:txBody>
                    <a:bodyPr/>
                    <a:lstStyle/>
                    <a:p>
                      <a:r>
                        <a:rPr lang="en-US" dirty="0"/>
                        <a:t>Credit Card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15%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28%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42%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45%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38%</a:t>
                      </a:r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100340"/>
                  </a:ext>
                </a:extLst>
              </a:tr>
              <a:tr h="757464">
                <a:tc>
                  <a:txBody>
                    <a:bodyPr/>
                    <a:lstStyle/>
                    <a:p>
                      <a:r>
                        <a:rPr lang="en-US" dirty="0"/>
                        <a:t>Pension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2%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5%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12%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25%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45%</a:t>
                      </a:r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5441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3601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ED05D-D07D-41AB-AD5E-190886A02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Performance Results</a:t>
            </a:r>
            <a:br>
              <a:rPr lang="en-US" dirty="0"/>
            </a:br>
            <a:r>
              <a:rPr lang="en-US" sz="2400" dirty="0"/>
              <a:t>Final Federated Learning Results After 5 Rounds</a:t>
            </a:r>
            <a:endParaRPr lang="en-KE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6B01EAD-554F-42E6-B560-C1F120BC1D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8387291"/>
              </p:ext>
            </p:extLst>
          </p:nvPr>
        </p:nvGraphicFramePr>
        <p:xfrm>
          <a:off x="1155699" y="2603500"/>
          <a:ext cx="9947728" cy="328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6932">
                  <a:extLst>
                    <a:ext uri="{9D8B030D-6E8A-4147-A177-3AD203B41FA5}">
                      <a16:colId xmlns:a16="http://schemas.microsoft.com/office/drawing/2014/main" val="3740288179"/>
                    </a:ext>
                  </a:extLst>
                </a:gridCol>
                <a:gridCol w="2486932">
                  <a:extLst>
                    <a:ext uri="{9D8B030D-6E8A-4147-A177-3AD203B41FA5}">
                      <a16:colId xmlns:a16="http://schemas.microsoft.com/office/drawing/2014/main" val="3448653605"/>
                    </a:ext>
                  </a:extLst>
                </a:gridCol>
                <a:gridCol w="2486932">
                  <a:extLst>
                    <a:ext uri="{9D8B030D-6E8A-4147-A177-3AD203B41FA5}">
                      <a16:colId xmlns:a16="http://schemas.microsoft.com/office/drawing/2014/main" val="4133724022"/>
                    </a:ext>
                  </a:extLst>
                </a:gridCol>
                <a:gridCol w="2486932">
                  <a:extLst>
                    <a:ext uri="{9D8B030D-6E8A-4147-A177-3AD203B41FA5}">
                      <a16:colId xmlns:a16="http://schemas.microsoft.com/office/drawing/2014/main" val="996231657"/>
                    </a:ext>
                  </a:extLst>
                </a:gridCol>
              </a:tblGrid>
              <a:tr h="820208">
                <a:tc>
                  <a:txBody>
                    <a:bodyPr/>
                    <a:lstStyle/>
                    <a:p>
                      <a:r>
                        <a:rPr lang="en-US" dirty="0"/>
                        <a:t>Client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Age Group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 Samples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 Score</a:t>
                      </a:r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966770"/>
                  </a:ext>
                </a:extLst>
              </a:tr>
              <a:tr h="820208">
                <a:tc>
                  <a:txBody>
                    <a:bodyPr/>
                    <a:lstStyle/>
                    <a:p>
                      <a:r>
                        <a:rPr lang="en-US" dirty="0"/>
                        <a:t>Client 1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≤ 30 years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24,317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0.9489</a:t>
                      </a:r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150752"/>
                  </a:ext>
                </a:extLst>
              </a:tr>
              <a:tr h="820208">
                <a:tc>
                  <a:txBody>
                    <a:bodyPr/>
                    <a:lstStyle/>
                    <a:p>
                      <a:r>
                        <a:rPr lang="en-US" dirty="0"/>
                        <a:t>Client 2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31-50 years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5,718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0.7036</a:t>
                      </a:r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204549"/>
                  </a:ext>
                </a:extLst>
              </a:tr>
              <a:tr h="820208">
                <a:tc>
                  <a:txBody>
                    <a:bodyPr/>
                    <a:lstStyle/>
                    <a:p>
                      <a:r>
                        <a:rPr lang="en-US" dirty="0"/>
                        <a:t>Client 3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 50 years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1,745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0.6795</a:t>
                      </a:r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82007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36500AB-D9EF-4560-8560-38B2C72F3E16}"/>
              </a:ext>
            </a:extLst>
          </p:cNvPr>
          <p:cNvSpPr txBox="1"/>
          <p:nvPr/>
        </p:nvSpPr>
        <p:spPr>
          <a:xfrm>
            <a:off x="947057" y="6106886"/>
            <a:ext cx="101563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All clients met or exceeded target F1 &gt; 0.70</a:t>
            </a:r>
            <a:endParaRPr lang="en-KE" sz="20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448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5E4A1-344B-40C4-BA2A-79DF31CC3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Hyperparameter Tuning Impact</a:t>
            </a:r>
            <a:br>
              <a:rPr lang="en-US" dirty="0"/>
            </a:br>
            <a:r>
              <a:rPr lang="en-US" sz="2400" dirty="0"/>
              <a:t>Dramatic Improvement for Smaller Clients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018C4-285F-4299-AE29-8479B0C8EB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Baseline vs. Tuned Performance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Client 1 (Young):    0.9528  →  0.9489  (stable)</a:t>
            </a:r>
          </a:p>
          <a:p>
            <a:r>
              <a:rPr lang="en-US" dirty="0">
                <a:solidFill>
                  <a:schemeClr val="tx1"/>
                </a:solidFill>
              </a:rPr>
              <a:t>Client 2 (Middle):   0.3927  →  0.7036  (+0.31) </a:t>
            </a:r>
            <a:endParaRPr lang="en-KE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Client 3 (Senior):   0.3558  →  0.6795  (+0.32) </a:t>
            </a:r>
            <a:endParaRPr lang="en-KE" dirty="0">
              <a:solidFill>
                <a:schemeClr val="tx1"/>
              </a:solidFill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0774893A-B373-4D0D-9862-1197A4AC8CF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22935900"/>
              </p:ext>
            </p:extLst>
          </p:nvPr>
        </p:nvGraphicFramePr>
        <p:xfrm>
          <a:off x="6208712" y="2603500"/>
          <a:ext cx="5400904" cy="3597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0226">
                  <a:extLst>
                    <a:ext uri="{9D8B030D-6E8A-4147-A177-3AD203B41FA5}">
                      <a16:colId xmlns:a16="http://schemas.microsoft.com/office/drawing/2014/main" val="2092445635"/>
                    </a:ext>
                  </a:extLst>
                </a:gridCol>
                <a:gridCol w="1350226">
                  <a:extLst>
                    <a:ext uri="{9D8B030D-6E8A-4147-A177-3AD203B41FA5}">
                      <a16:colId xmlns:a16="http://schemas.microsoft.com/office/drawing/2014/main" val="2258071914"/>
                    </a:ext>
                  </a:extLst>
                </a:gridCol>
                <a:gridCol w="1350226">
                  <a:extLst>
                    <a:ext uri="{9D8B030D-6E8A-4147-A177-3AD203B41FA5}">
                      <a16:colId xmlns:a16="http://schemas.microsoft.com/office/drawing/2014/main" val="2561861060"/>
                    </a:ext>
                  </a:extLst>
                </a:gridCol>
                <a:gridCol w="1350226">
                  <a:extLst>
                    <a:ext uri="{9D8B030D-6E8A-4147-A177-3AD203B41FA5}">
                      <a16:colId xmlns:a16="http://schemas.microsoft.com/office/drawing/2014/main" val="325967376"/>
                    </a:ext>
                  </a:extLst>
                </a:gridCol>
              </a:tblGrid>
              <a:tr h="854075">
                <a:tc>
                  <a:txBody>
                    <a:bodyPr/>
                    <a:lstStyle/>
                    <a:p>
                      <a:r>
                        <a:rPr lang="en-US" dirty="0"/>
                        <a:t>Parameter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Tested Values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Best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Reason</a:t>
                      </a:r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593376"/>
                  </a:ext>
                </a:extLst>
              </a:tr>
              <a:tr h="854075">
                <a:tc>
                  <a:txBody>
                    <a:bodyPr/>
                    <a:lstStyle/>
                    <a:p>
                      <a:r>
                        <a:rPr lang="en-US" dirty="0"/>
                        <a:t>C (regularization)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0.01, 0.1,1, 10, 100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Sweet spot for all clients</a:t>
                      </a:r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337433"/>
                  </a:ext>
                </a:extLst>
              </a:tr>
              <a:tr h="854075">
                <a:tc>
                  <a:txBody>
                    <a:bodyPr/>
                    <a:lstStyle/>
                    <a:p>
                      <a:r>
                        <a:rPr lang="en-US" b="0" dirty="0"/>
                        <a:t>Solver</a:t>
                      </a:r>
                      <a:endParaRPr lang="en-KE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lbfgs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saga,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liblinear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lbfgs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Fastest, stable</a:t>
                      </a:r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0970716"/>
                  </a:ext>
                </a:extLst>
              </a:tr>
              <a:tr h="854075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 Weight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None, balanced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None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Balanced reduced F1</a:t>
                      </a:r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0262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4475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6A887-A285-4EB5-AE85-593B207A9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Research Answers</a:t>
            </a:r>
            <a:br>
              <a:rPr lang="en-US" dirty="0"/>
            </a:br>
            <a:r>
              <a:rPr lang="en-US" sz="2800" dirty="0" err="1"/>
              <a:t>Answers</a:t>
            </a:r>
            <a:r>
              <a:rPr lang="en-US" sz="2800" dirty="0"/>
              <a:t> to Research Questions</a:t>
            </a:r>
            <a:endParaRPr lang="en-KE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09CC2B8-20AF-4A72-915A-4C5F5236CB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3701687"/>
              </p:ext>
            </p:extLst>
          </p:nvPr>
        </p:nvGraphicFramePr>
        <p:xfrm>
          <a:off x="1155701" y="2432957"/>
          <a:ext cx="10099902" cy="47957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6634">
                  <a:extLst>
                    <a:ext uri="{9D8B030D-6E8A-4147-A177-3AD203B41FA5}">
                      <a16:colId xmlns:a16="http://schemas.microsoft.com/office/drawing/2014/main" val="3597885077"/>
                    </a:ext>
                  </a:extLst>
                </a:gridCol>
                <a:gridCol w="3366634">
                  <a:extLst>
                    <a:ext uri="{9D8B030D-6E8A-4147-A177-3AD203B41FA5}">
                      <a16:colId xmlns:a16="http://schemas.microsoft.com/office/drawing/2014/main" val="3274096679"/>
                    </a:ext>
                  </a:extLst>
                </a:gridCol>
                <a:gridCol w="3366634">
                  <a:extLst>
                    <a:ext uri="{9D8B030D-6E8A-4147-A177-3AD203B41FA5}">
                      <a16:colId xmlns:a16="http://schemas.microsoft.com/office/drawing/2014/main" val="2144291674"/>
                    </a:ext>
                  </a:extLst>
                </a:gridCol>
              </a:tblGrid>
              <a:tr h="504175">
                <a:tc>
                  <a:txBody>
                    <a:bodyPr/>
                    <a:lstStyle/>
                    <a:p>
                      <a:r>
                        <a:rPr lang="en-US" dirty="0"/>
                        <a:t>Q#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Question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Answer</a:t>
                      </a:r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5063968"/>
                  </a:ext>
                </a:extLst>
              </a:tr>
              <a:tr h="571793">
                <a:tc>
                  <a:txBody>
                    <a:bodyPr/>
                    <a:lstStyle/>
                    <a:p>
                      <a:r>
                        <a:rPr lang="en-US" dirty="0"/>
                        <a:t>Q1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Most common products?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Current Account (45k), E-account, Direct Debit</a:t>
                      </a:r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8956328"/>
                  </a:ext>
                </a:extLst>
              </a:tr>
              <a:tr h="571793">
                <a:tc>
                  <a:txBody>
                    <a:bodyPr/>
                    <a:lstStyle/>
                    <a:p>
                      <a:r>
                        <a:rPr lang="en-US" dirty="0"/>
                        <a:t>Q2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Age vs. products?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Young: basic only; 36-55: credit cards; older: pensions</a:t>
                      </a:r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857193"/>
                  </a:ext>
                </a:extLst>
              </a:tr>
              <a:tr h="816848">
                <a:tc>
                  <a:txBody>
                    <a:bodyPr/>
                    <a:lstStyle/>
                    <a:p>
                      <a:r>
                        <a:rPr lang="en-US" dirty="0"/>
                        <a:t>Q3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Income as predictor?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Weak alone; combined with age/segment adds value</a:t>
                      </a:r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2720782"/>
                  </a:ext>
                </a:extLst>
              </a:tr>
              <a:tr h="571793">
                <a:tc>
                  <a:txBody>
                    <a:bodyPr/>
                    <a:lstStyle/>
                    <a:p>
                      <a:r>
                        <a:rPr lang="en-US" dirty="0"/>
                        <a:t>Q4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Best cross-sell segment?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University students (78%) → only current account</a:t>
                      </a:r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4566871"/>
                  </a:ext>
                </a:extLst>
              </a:tr>
              <a:tr h="571793">
                <a:tc>
                  <a:txBody>
                    <a:bodyPr/>
                    <a:lstStyle/>
                    <a:p>
                      <a:r>
                        <a:rPr lang="en-US" dirty="0"/>
                        <a:t>Q5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 model accuracy?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F1: 0.95, 0.70, 0.68 → target met </a:t>
                      </a:r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2728132"/>
                  </a:ext>
                </a:extLst>
              </a:tr>
              <a:tr h="816848">
                <a:tc>
                  <a:txBody>
                    <a:bodyPr/>
                    <a:lstStyle/>
                    <a:p>
                      <a:r>
                        <a:rPr lang="en-US" dirty="0"/>
                        <a:t>Q6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Client comparison?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C1 best (most data); C2 &amp; C3 improved +0.31 after tuning</a:t>
                      </a:r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01834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8995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B6FB8-2E60-424A-96D9-8D43F6BA4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Deployed Interface</a:t>
            </a:r>
            <a:br>
              <a:rPr lang="en-US" dirty="0"/>
            </a:br>
            <a:r>
              <a:rPr lang="en-US" sz="2400" dirty="0" err="1"/>
              <a:t>Gradio</a:t>
            </a:r>
            <a:r>
              <a:rPr lang="en-US" sz="2400" dirty="0"/>
              <a:t> Web Application</a:t>
            </a:r>
            <a:endParaRPr lang="en-K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066AD9-7398-4B0D-AE4F-D056914337CF}"/>
              </a:ext>
            </a:extLst>
          </p:cNvPr>
          <p:cNvSpPr txBox="1"/>
          <p:nvPr/>
        </p:nvSpPr>
        <p:spPr>
          <a:xfrm>
            <a:off x="1154954" y="2334986"/>
            <a:ext cx="10438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SANTANDER SMART FINANCIAL ADVISOR</a:t>
            </a:r>
            <a:endParaRPr lang="en-KE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4660DE-FC08-4E9C-8BDD-1B466C1C013E}"/>
              </a:ext>
            </a:extLst>
          </p:cNvPr>
          <p:cNvSpPr txBox="1"/>
          <p:nvPr/>
        </p:nvSpPr>
        <p:spPr>
          <a:xfrm>
            <a:off x="832757" y="2704318"/>
            <a:ext cx="37065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ABOUT YOU</a:t>
            </a:r>
          </a:p>
          <a:p>
            <a:r>
              <a:rPr lang="en-US" dirty="0"/>
              <a:t>Age: 25</a:t>
            </a:r>
          </a:p>
          <a:p>
            <a:r>
              <a:rPr lang="en-US" dirty="0"/>
              <a:t>Income: 35, 000</a:t>
            </a:r>
          </a:p>
          <a:p>
            <a:r>
              <a:rPr lang="en-US" dirty="0"/>
              <a:t>Tenure: 0 months</a:t>
            </a:r>
            <a:endParaRPr lang="en-K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536311-5F7B-4EDC-ADFC-F09A3A628E7A}"/>
              </a:ext>
            </a:extLst>
          </p:cNvPr>
          <p:cNvSpPr txBox="1"/>
          <p:nvPr/>
        </p:nvSpPr>
        <p:spPr>
          <a:xfrm>
            <a:off x="5225142" y="2824843"/>
            <a:ext cx="57150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YOUR SITUATION</a:t>
            </a:r>
          </a:p>
          <a:p>
            <a:r>
              <a:rPr lang="en-US" dirty="0"/>
              <a:t>Employment: Employed FT</a:t>
            </a:r>
          </a:p>
          <a:p>
            <a:r>
              <a:rPr lang="en-US" dirty="0"/>
              <a:t>Reason: Save money</a:t>
            </a:r>
            <a:endParaRPr lang="en-K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69D77C-F93D-4A72-B1F0-762C602EA164}"/>
              </a:ext>
            </a:extLst>
          </p:cNvPr>
          <p:cNvSpPr txBox="1"/>
          <p:nvPr/>
        </p:nvSpPr>
        <p:spPr>
          <a:xfrm>
            <a:off x="2628899" y="3904647"/>
            <a:ext cx="5192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FIND MY BEST PORDUCTS</a:t>
            </a:r>
            <a:endParaRPr lang="en-KE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8F8418-2568-4348-B9BD-87BCDB5FF960}"/>
              </a:ext>
            </a:extLst>
          </p:cNvPr>
          <p:cNvSpPr txBox="1"/>
          <p:nvPr/>
        </p:nvSpPr>
        <p:spPr>
          <a:xfrm>
            <a:off x="996043" y="4392386"/>
            <a:ext cx="37065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PROFILE SUMMARY</a:t>
            </a:r>
          </a:p>
          <a:p>
            <a:r>
              <a:rPr lang="en-US" dirty="0"/>
              <a:t>Life stage: Young Pro</a:t>
            </a:r>
          </a:p>
          <a:p>
            <a:r>
              <a:rPr lang="en-US" dirty="0"/>
              <a:t>Income: Middle Income</a:t>
            </a:r>
          </a:p>
          <a:p>
            <a:r>
              <a:rPr lang="en-US" dirty="0"/>
              <a:t>Goal: Save Money</a:t>
            </a:r>
            <a:endParaRPr lang="en-K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91CB25-8045-46F9-B0ED-5805008A52FE}"/>
              </a:ext>
            </a:extLst>
          </p:cNvPr>
          <p:cNvSpPr txBox="1"/>
          <p:nvPr/>
        </p:nvSpPr>
        <p:spPr>
          <a:xfrm>
            <a:off x="5535660" y="4392386"/>
            <a:ext cx="47839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TOP RECOMMENDATION</a:t>
            </a:r>
          </a:p>
          <a:p>
            <a:r>
              <a:rPr lang="en-US" dirty="0"/>
              <a:t>Credit Card</a:t>
            </a:r>
          </a:p>
          <a:p>
            <a:r>
              <a:rPr lang="en-US" dirty="0"/>
              <a:t>Confidence: 87%</a:t>
            </a:r>
          </a:p>
          <a:p>
            <a:r>
              <a:rPr lang="en-US" dirty="0"/>
              <a:t>Best for: Professionals</a:t>
            </a:r>
            <a:endParaRPr lang="en-K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E23AD6-9734-4C1F-B1C0-FB242D678AA3}"/>
              </a:ext>
            </a:extLst>
          </p:cNvPr>
          <p:cNvSpPr txBox="1"/>
          <p:nvPr/>
        </p:nvSpPr>
        <p:spPr>
          <a:xfrm>
            <a:off x="1154954" y="5592715"/>
            <a:ext cx="42334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FULL PRODUCT PLAN</a:t>
            </a:r>
          </a:p>
          <a:p>
            <a:pPr marL="342900" indent="-342900">
              <a:buAutoNum type="arabicPeriod"/>
            </a:pPr>
            <a:r>
              <a:rPr lang="en-US" dirty="0"/>
              <a:t>Credit Card (87%)</a:t>
            </a:r>
          </a:p>
          <a:p>
            <a:pPr marL="342900" indent="-342900">
              <a:buAutoNum type="arabicPeriod"/>
            </a:pPr>
            <a:r>
              <a:rPr lang="en-US" dirty="0"/>
              <a:t>Savings Acc (65%)</a:t>
            </a:r>
          </a:p>
          <a:p>
            <a:pPr marL="342900" indent="-342900">
              <a:buAutoNum type="arabicPeriod"/>
            </a:pPr>
            <a:r>
              <a:rPr lang="en-US" dirty="0"/>
              <a:t>Investment Funds(42%)</a:t>
            </a:r>
            <a:endParaRPr lang="en-K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47ED8C-2C09-4C74-A802-1AAA2028AD17}"/>
              </a:ext>
            </a:extLst>
          </p:cNvPr>
          <p:cNvSpPr txBox="1"/>
          <p:nvPr/>
        </p:nvSpPr>
        <p:spPr>
          <a:xfrm>
            <a:off x="5731329" y="5711122"/>
            <a:ext cx="28901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CONFIDENCE REPORT</a:t>
            </a:r>
          </a:p>
          <a:p>
            <a:r>
              <a:rPr lang="en-US" dirty="0"/>
              <a:t>Overall: 72%</a:t>
            </a:r>
          </a:p>
          <a:p>
            <a:r>
              <a:rPr lang="en-US" dirty="0"/>
              <a:t>Rating: High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663618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F2A66-D543-44A3-9CA9-61F035D7C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Privacy Achievement</a:t>
            </a:r>
            <a:br>
              <a:rPr lang="en-US" dirty="0"/>
            </a:br>
            <a:r>
              <a:rPr lang="en-US" sz="2400" dirty="0"/>
              <a:t>How Federated Learning Protects Data</a:t>
            </a:r>
            <a:endParaRPr lang="en-KE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60612AD1-134E-4328-BDB5-88044F39911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13239273"/>
              </p:ext>
            </p:extLst>
          </p:nvPr>
        </p:nvGraphicFramePr>
        <p:xfrm>
          <a:off x="1155700" y="2603500"/>
          <a:ext cx="4825158" cy="3416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2579">
                  <a:extLst>
                    <a:ext uri="{9D8B030D-6E8A-4147-A177-3AD203B41FA5}">
                      <a16:colId xmlns:a16="http://schemas.microsoft.com/office/drawing/2014/main" val="235702265"/>
                    </a:ext>
                  </a:extLst>
                </a:gridCol>
                <a:gridCol w="2412579">
                  <a:extLst>
                    <a:ext uri="{9D8B030D-6E8A-4147-A177-3AD203B41FA5}">
                      <a16:colId xmlns:a16="http://schemas.microsoft.com/office/drawing/2014/main" val="1796779511"/>
                    </a:ext>
                  </a:extLst>
                </a:gridCol>
              </a:tblGrid>
              <a:tr h="68326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Traditional Approach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Federated Learning Approach</a:t>
                      </a:r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2920485"/>
                  </a:ext>
                </a:extLst>
              </a:tr>
              <a:tr h="68326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Centralize all customer data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stays on local client</a:t>
                      </a:r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20173"/>
                  </a:ext>
                </a:extLst>
              </a:tr>
              <a:tr h="68326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Single point of failure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Distributed, resilient</a:t>
                      </a:r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4884981"/>
                  </a:ext>
                </a:extLst>
              </a:tr>
              <a:tr h="68326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GDPR compliance risk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Built for privacy regulations</a:t>
                      </a:r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229999"/>
                  </a:ext>
                </a:extLst>
              </a:tr>
              <a:tr h="68326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Customers lose control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Customers retain data sovereignty</a:t>
                      </a:r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340982"/>
                  </a:ext>
                </a:extLst>
              </a:tr>
            </a:tbl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3DB92D-298E-4966-9EC7-F2B90FCB172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this project:</a:t>
            </a:r>
          </a:p>
          <a:p>
            <a:r>
              <a:rPr lang="en-US" dirty="0"/>
              <a:t>50,000 customers across clients</a:t>
            </a:r>
          </a:p>
          <a:p>
            <a:r>
              <a:rPr lang="en-US" dirty="0"/>
              <a:t>Raw data Never shared</a:t>
            </a:r>
          </a:p>
          <a:p>
            <a:r>
              <a:rPr lang="en-US" dirty="0"/>
              <a:t>Only model weights transmitted</a:t>
            </a:r>
          </a:p>
          <a:p>
            <a:r>
              <a:rPr lang="en-US" dirty="0"/>
              <a:t>5 rounds of </a:t>
            </a:r>
            <a:r>
              <a:rPr lang="en-US" dirty="0" err="1"/>
              <a:t>FedAVG</a:t>
            </a:r>
            <a:endParaRPr lang="en-US" dirty="0"/>
          </a:p>
          <a:p>
            <a:r>
              <a:rPr lang="en-US" dirty="0"/>
              <a:t>F! scores &gt; 0.70 achieved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025170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51495-0326-4D6C-830A-055ECE207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Limitationsand</a:t>
            </a:r>
            <a:r>
              <a:rPr lang="en-US" dirty="0"/>
              <a:t> Future Work</a:t>
            </a:r>
            <a:br>
              <a:rPr lang="en-US" dirty="0"/>
            </a:br>
            <a:r>
              <a:rPr lang="en-US" sz="2800" dirty="0"/>
              <a:t>Current Limitations</a:t>
            </a:r>
            <a:endParaRPr lang="en-KE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8F71765-623D-4B1C-B8CB-56F38FDDDA3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870976944"/>
              </p:ext>
            </p:extLst>
          </p:nvPr>
        </p:nvGraphicFramePr>
        <p:xfrm>
          <a:off x="1155700" y="2603499"/>
          <a:ext cx="4825158" cy="3416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2579">
                  <a:extLst>
                    <a:ext uri="{9D8B030D-6E8A-4147-A177-3AD203B41FA5}">
                      <a16:colId xmlns:a16="http://schemas.microsoft.com/office/drawing/2014/main" val="1796708403"/>
                    </a:ext>
                  </a:extLst>
                </a:gridCol>
                <a:gridCol w="2412579">
                  <a:extLst>
                    <a:ext uri="{9D8B030D-6E8A-4147-A177-3AD203B41FA5}">
                      <a16:colId xmlns:a16="http://schemas.microsoft.com/office/drawing/2014/main" val="1728344545"/>
                    </a:ext>
                  </a:extLst>
                </a:gridCol>
              </a:tblGrid>
              <a:tr h="683260">
                <a:tc>
                  <a:txBody>
                    <a:bodyPr/>
                    <a:lstStyle/>
                    <a:p>
                      <a:r>
                        <a:rPr lang="en-US" dirty="0"/>
                        <a:t>Limitation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Impact</a:t>
                      </a:r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008030"/>
                  </a:ext>
                </a:extLst>
              </a:tr>
              <a:tr h="68326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50,000 record subset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Full dataset is 13M rows</a:t>
                      </a:r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4120036"/>
                  </a:ext>
                </a:extLst>
              </a:tr>
              <a:tr h="68326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Simulated FL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 on physical machines</a:t>
                      </a:r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2669177"/>
                  </a:ext>
                </a:extLst>
              </a:tr>
              <a:tr h="68326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Static snapshot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temporal dynamics</a:t>
                      </a:r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7131721"/>
                  </a:ext>
                </a:extLst>
              </a:tr>
              <a:tr h="683260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Removed rare products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quote-cjk-patch"/>
                        </a:rPr>
                        <a:t>Cannot recommend niche items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486523150"/>
                  </a:ext>
                </a:extLst>
              </a:tr>
            </a:tbl>
          </a:graphicData>
        </a:graphic>
      </p:graphicFrame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C90CEE7-AB15-45DF-A053-7F87F475223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Future Directions</a:t>
            </a:r>
          </a:p>
          <a:p>
            <a:r>
              <a:rPr lang="en-US" dirty="0"/>
              <a:t>Scale to full 13M records with Spark cluster</a:t>
            </a:r>
          </a:p>
          <a:p>
            <a:r>
              <a:rPr lang="en-US" dirty="0"/>
              <a:t>Deploy true distributed FL across physical machines</a:t>
            </a:r>
          </a:p>
          <a:p>
            <a:r>
              <a:rPr lang="en-US" dirty="0"/>
              <a:t>Add collaborative filtering (user-user similarity)</a:t>
            </a:r>
          </a:p>
          <a:p>
            <a:r>
              <a:rPr lang="en-US" dirty="0"/>
              <a:t>Implement differential privacy for formal guarantees</a:t>
            </a:r>
          </a:p>
          <a:p>
            <a:r>
              <a:rPr lang="en-US" dirty="0"/>
              <a:t>Real-time model updating as behavior changes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418269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F3E39-3704-4103-9BF7-E8CB97288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references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8698C-6397-462E-ABE6-153DC33D9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McMahan et al. (2017) – Federated Learning</a:t>
            </a:r>
          </a:p>
          <a:p>
            <a:r>
              <a:rPr lang="en-US" dirty="0"/>
              <a:t>Moro et al.(2019) – Bank Product Prediction)</a:t>
            </a:r>
          </a:p>
          <a:p>
            <a:r>
              <a:rPr lang="en-US" dirty="0"/>
              <a:t>Li et al. (2020) – Federated Learning Challenges</a:t>
            </a:r>
          </a:p>
          <a:p>
            <a:r>
              <a:rPr lang="en-US" dirty="0"/>
              <a:t>Voigt &amp;Von dem </a:t>
            </a:r>
            <a:r>
              <a:rPr lang="en-US" dirty="0" err="1"/>
              <a:t>Bussche</a:t>
            </a:r>
            <a:r>
              <a:rPr lang="en-US" dirty="0"/>
              <a:t> (2017) – GDPR Guide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42424042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7E49C-994D-4421-B580-ED583200E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Authors’ details</a:t>
            </a:r>
            <a:endParaRPr lang="en-KE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1DF16D63-D80C-4E4A-9764-FFF70B0CECF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250385343"/>
              </p:ext>
            </p:extLst>
          </p:nvPr>
        </p:nvGraphicFramePr>
        <p:xfrm>
          <a:off x="1155699" y="2603499"/>
          <a:ext cx="10437587" cy="37646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2151">
                  <a:extLst>
                    <a:ext uri="{9D8B030D-6E8A-4147-A177-3AD203B41FA5}">
                      <a16:colId xmlns:a16="http://schemas.microsoft.com/office/drawing/2014/main" val="2329959323"/>
                    </a:ext>
                  </a:extLst>
                </a:gridCol>
                <a:gridCol w="2762151">
                  <a:extLst>
                    <a:ext uri="{9D8B030D-6E8A-4147-A177-3AD203B41FA5}">
                      <a16:colId xmlns:a16="http://schemas.microsoft.com/office/drawing/2014/main" val="1765243899"/>
                    </a:ext>
                  </a:extLst>
                </a:gridCol>
                <a:gridCol w="2762151">
                  <a:extLst>
                    <a:ext uri="{9D8B030D-6E8A-4147-A177-3AD203B41FA5}">
                      <a16:colId xmlns:a16="http://schemas.microsoft.com/office/drawing/2014/main" val="4123801632"/>
                    </a:ext>
                  </a:extLst>
                </a:gridCol>
                <a:gridCol w="2151134">
                  <a:extLst>
                    <a:ext uri="{9D8B030D-6E8A-4147-A177-3AD203B41FA5}">
                      <a16:colId xmlns:a16="http://schemas.microsoft.com/office/drawing/2014/main" val="1193049681"/>
                    </a:ext>
                  </a:extLst>
                </a:gridCol>
              </a:tblGrid>
              <a:tr h="1254881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Students Number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EMAIL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Phone Number</a:t>
                      </a:r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09386"/>
                  </a:ext>
                </a:extLst>
              </a:tr>
              <a:tr h="1254881">
                <a:tc>
                  <a:txBody>
                    <a:bodyPr/>
                    <a:lstStyle/>
                    <a:p>
                      <a:r>
                        <a:rPr lang="en-US" dirty="0"/>
                        <a:t>Collins Oyaro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1049423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oyarocollins18@gmail.com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0705544147</a:t>
                      </a:r>
                      <a:endParaRPr lang="en-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608139"/>
                  </a:ext>
                </a:extLst>
              </a:tr>
              <a:tr h="1254881">
                <a:tc>
                  <a:txBody>
                    <a:bodyPr/>
                    <a:lstStyle/>
                    <a:p>
                      <a:r>
                        <a:rPr lang="en-US" dirty="0"/>
                        <a:t>Diana </a:t>
                      </a:r>
                      <a:r>
                        <a:rPr lang="en-US" dirty="0" err="1"/>
                        <a:t>Olulo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1046040</a:t>
                      </a:r>
                      <a:endParaRPr lang="en-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dianajerusha02@gmail.com</a:t>
                      </a:r>
                      <a:endParaRPr lang="en-KE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+254748334141</a:t>
                      </a:r>
                      <a:endParaRPr lang="en-KE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1877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19373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200</TotalTime>
  <Words>946</Words>
  <Application>Microsoft Office PowerPoint</Application>
  <PresentationFormat>Widescreen</PresentationFormat>
  <Paragraphs>258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Century Gothic</vt:lpstr>
      <vt:lpstr>quote-cjk-patch</vt:lpstr>
      <vt:lpstr>Times New Roman</vt:lpstr>
      <vt:lpstr>Wingdings 3</vt:lpstr>
      <vt:lpstr>Ion Boardroom</vt:lpstr>
      <vt:lpstr>RECOMMENDER SYSTEM FOR PERSONALIZED FINANCIAL ADVICE: A CASE STUDY OF SANTANDER BANK DATA </vt:lpstr>
      <vt:lpstr>Presentation Outline</vt:lpstr>
      <vt:lpstr>The Challenge: Personalization vs. Privacy </vt:lpstr>
      <vt:lpstr>Research Objectives</vt:lpstr>
      <vt:lpstr>Methodology Overview</vt:lpstr>
      <vt:lpstr>Federated Learning Architecture</vt:lpstr>
      <vt:lpstr>Exploratory Data Analysis Inisghts Key Findings from 50,000 Customers</vt:lpstr>
      <vt:lpstr>Product Ownership by Age Group</vt:lpstr>
      <vt:lpstr>Model Performance Results Final Federated Learning Results After 5 Rounds</vt:lpstr>
      <vt:lpstr>Hyperparameter Tuning Impact Dramatic Improvement for Smaller Clients</vt:lpstr>
      <vt:lpstr>Key Research Answers Answers to Research Questions</vt:lpstr>
      <vt:lpstr>Deployed Interface Gradio Web Application</vt:lpstr>
      <vt:lpstr>Privacy Achievement How Federated Learning Protects Data</vt:lpstr>
      <vt:lpstr>Limitationsand Future Work Current Limitations</vt:lpstr>
      <vt:lpstr>Key references</vt:lpstr>
      <vt:lpstr>Authors’ details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RECOMMENDER SYSTEM FOR PERSONALIZED FINANCIAL ADVICE: A CASE STUDY OF SANTANDER BANK DATA</dc:title>
  <dc:creator>Collins Oyaro</dc:creator>
  <cp:lastModifiedBy>Collins Oyaro</cp:lastModifiedBy>
  <cp:revision>1</cp:revision>
  <dcterms:created xsi:type="dcterms:W3CDTF">2026-03-24T21:42:03Z</dcterms:created>
  <dcterms:modified xsi:type="dcterms:W3CDTF">2026-03-25T01:02:05Z</dcterms:modified>
</cp:coreProperties>
</file>